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C6C45E7-A6CE-45F0-89E3-BBC12E94824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05939F-604D-4CA0-8F2B-729FFF818A93}" v="1" dt="2019-03-01T16:24:03.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9" d="100"/>
          <a:sy n="119" d="100"/>
        </p:scale>
        <p:origin x="21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dan Dearing" userId="549f97a1b1354368" providerId="LiveId" clId="{4705939F-604D-4CA0-8F2B-729FFF818A93}"/>
    <pc:docChg chg="addSld delSld modSld modSection">
      <pc:chgData name="Aidan Dearing" userId="549f97a1b1354368" providerId="LiveId" clId="{4705939F-604D-4CA0-8F2B-729FFF818A93}" dt="2019-03-01T16:24:25.818" v="1" actId="2696"/>
      <pc:docMkLst>
        <pc:docMk/>
      </pc:docMkLst>
      <pc:sldChg chg="add del">
        <pc:chgData name="Aidan Dearing" userId="549f97a1b1354368" providerId="LiveId" clId="{4705939F-604D-4CA0-8F2B-729FFF818A93}" dt="2019-03-01T16:24:25.818" v="1" actId="2696"/>
        <pc:sldMkLst>
          <pc:docMk/>
          <pc:sldMk cId="979709816" sldId="28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08BACA7D-951F-4D37-A24A-A24EBC5CE8C0}" type="datetimeFigureOut">
              <a:rPr lang="en-CA" smtClean="0"/>
              <a:t>2019-03-01</a:t>
            </a:fld>
            <a:endParaRPr lang="en-CA"/>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CA"/>
          </a:p>
        </p:txBody>
      </p:sp>
      <p:sp>
        <p:nvSpPr>
          <p:cNvPr id="6" name="Slide Number Placeholder 5"/>
          <p:cNvSpPr>
            <a:spLocks noGrp="1"/>
          </p:cNvSpPr>
          <p:nvPr>
            <p:ph type="sldNum" sz="quarter" idx="12"/>
          </p:nvPr>
        </p:nvSpPr>
        <p:spPr>
          <a:xfrm>
            <a:off x="10469880"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1085429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BACA7D-951F-4D37-A24A-A24EBC5CE8C0}" type="datetimeFigureOut">
              <a:rPr lang="en-CA" smtClean="0"/>
              <a:t>2019-03-01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2614604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04672" y="320040"/>
            <a:ext cx="3657600" cy="320040"/>
          </a:xfrm>
        </p:spPr>
        <p:txBody>
          <a:bodyPr/>
          <a:lstStyle/>
          <a:p>
            <a:fld id="{08BACA7D-951F-4D37-A24A-A24EBC5CE8C0}" type="datetimeFigureOut">
              <a:rPr lang="en-CA" smtClean="0"/>
              <a:t>2019-03-01</a:t>
            </a:fld>
            <a:endParaRPr lang="en-CA"/>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CA"/>
          </a:p>
        </p:txBody>
      </p:sp>
      <p:sp>
        <p:nvSpPr>
          <p:cNvPr id="6" name="Slide Number Placeholder 5"/>
          <p:cNvSpPr>
            <a:spLocks noGrp="1"/>
          </p:cNvSpPr>
          <p:nvPr>
            <p:ph type="sldNum" sz="quarter" idx="12"/>
          </p:nvPr>
        </p:nvSpPr>
        <p:spPr>
          <a:xfrm>
            <a:off x="10469880"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245419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08BACA7D-951F-4D37-A24A-A24EBC5CE8C0}" type="datetimeFigureOut">
              <a:rPr lang="en-CA" smtClean="0"/>
              <a:t>2019-03-01</a:t>
            </a:fld>
            <a:endParaRPr lang="en-CA"/>
          </a:p>
        </p:txBody>
      </p:sp>
      <p:sp>
        <p:nvSpPr>
          <p:cNvPr id="6" name="Footer Placeholder 5"/>
          <p:cNvSpPr>
            <a:spLocks noGrp="1"/>
          </p:cNvSpPr>
          <p:nvPr>
            <p:ph type="ftr" sz="quarter" idx="11"/>
          </p:nvPr>
        </p:nvSpPr>
        <p:spPr>
          <a:xfrm>
            <a:off x="804672" y="6227064"/>
            <a:ext cx="10588752" cy="320040"/>
          </a:xfrm>
        </p:spPr>
        <p:txBody>
          <a:bodyPr/>
          <a:lstStyle/>
          <a:p>
            <a:endParaRPr lang="en-CA"/>
          </a:p>
        </p:txBody>
      </p:sp>
      <p:sp>
        <p:nvSpPr>
          <p:cNvPr id="7" name="Slide Number Placeholder 6"/>
          <p:cNvSpPr>
            <a:spLocks noGrp="1"/>
          </p:cNvSpPr>
          <p:nvPr>
            <p:ph type="sldNum" sz="quarter" idx="12"/>
          </p:nvPr>
        </p:nvSpPr>
        <p:spPr>
          <a:xfrm>
            <a:off x="10469880"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284498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08BACA7D-951F-4D37-A24A-A24EBC5CE8C0}" type="datetimeFigureOut">
              <a:rPr lang="en-CA" smtClean="0"/>
              <a:t>2019-03-01</a:t>
            </a:fld>
            <a:endParaRPr lang="en-CA"/>
          </a:p>
        </p:txBody>
      </p:sp>
      <p:sp>
        <p:nvSpPr>
          <p:cNvPr id="8" name="Footer Placeholder 7"/>
          <p:cNvSpPr>
            <a:spLocks noGrp="1"/>
          </p:cNvSpPr>
          <p:nvPr>
            <p:ph type="ftr" sz="quarter" idx="11"/>
          </p:nvPr>
        </p:nvSpPr>
        <p:spPr>
          <a:xfrm>
            <a:off x="804672" y="6227064"/>
            <a:ext cx="10588752" cy="320040"/>
          </a:xfrm>
        </p:spPr>
        <p:txBody>
          <a:bodyPr/>
          <a:lstStyle/>
          <a:p>
            <a:endParaRPr lang="en-CA"/>
          </a:p>
        </p:txBody>
      </p:sp>
      <p:sp>
        <p:nvSpPr>
          <p:cNvPr id="9" name="Slide Number Placeholder 8"/>
          <p:cNvSpPr>
            <a:spLocks noGrp="1"/>
          </p:cNvSpPr>
          <p:nvPr>
            <p:ph type="sldNum" sz="quarter" idx="12"/>
          </p:nvPr>
        </p:nvSpPr>
        <p:spPr>
          <a:xfrm>
            <a:off x="10469880"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411750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BACA7D-951F-4D37-A24A-A24EBC5CE8C0}" type="datetimeFigureOut">
              <a:rPr lang="en-CA" smtClean="0"/>
              <a:t>2019-03-01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57991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08BACA7D-951F-4D37-A24A-A24EBC5CE8C0}" type="datetimeFigureOut">
              <a:rPr lang="en-CA" smtClean="0"/>
              <a:t>2019-03-01</a:t>
            </a:fld>
            <a:endParaRPr lang="en-CA"/>
          </a:p>
        </p:txBody>
      </p:sp>
      <p:sp>
        <p:nvSpPr>
          <p:cNvPr id="3" name="Footer Placeholder 2"/>
          <p:cNvSpPr>
            <a:spLocks noGrp="1"/>
          </p:cNvSpPr>
          <p:nvPr>
            <p:ph type="ftr" sz="quarter" idx="11"/>
          </p:nvPr>
        </p:nvSpPr>
        <p:spPr>
          <a:xfrm>
            <a:off x="804672" y="6227064"/>
            <a:ext cx="10588752" cy="320040"/>
          </a:xfrm>
        </p:spPr>
        <p:txBody>
          <a:bodyPr/>
          <a:lstStyle/>
          <a:p>
            <a:endParaRPr lang="en-CA"/>
          </a:p>
        </p:txBody>
      </p:sp>
      <p:sp>
        <p:nvSpPr>
          <p:cNvPr id="4" name="Slide Number Placeholder 3"/>
          <p:cNvSpPr>
            <a:spLocks noGrp="1"/>
          </p:cNvSpPr>
          <p:nvPr>
            <p:ph type="sldNum" sz="quarter" idx="12"/>
          </p:nvPr>
        </p:nvSpPr>
        <p:spPr>
          <a:xfrm>
            <a:off x="10469880"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340314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8BACA7D-951F-4D37-A24A-A24EBC5CE8C0}" type="datetimeFigureOut">
              <a:rPr lang="en-CA" smtClean="0"/>
              <a:t>2019-03-01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3678638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04672" y="320040"/>
            <a:ext cx="3657600" cy="320040"/>
          </a:xfrm>
        </p:spPr>
        <p:txBody>
          <a:bodyPr/>
          <a:lstStyle/>
          <a:p>
            <a:fld id="{08BACA7D-951F-4D37-A24A-A24EBC5CE8C0}" type="datetimeFigureOut">
              <a:rPr lang="en-CA" smtClean="0"/>
              <a:t>2019-03-01</a:t>
            </a:fld>
            <a:endParaRPr lang="en-CA"/>
          </a:p>
        </p:txBody>
      </p:sp>
      <p:sp>
        <p:nvSpPr>
          <p:cNvPr id="6" name="Footer Placeholder 5"/>
          <p:cNvSpPr>
            <a:spLocks noGrp="1"/>
          </p:cNvSpPr>
          <p:nvPr>
            <p:ph type="ftr" sz="quarter" idx="11"/>
          </p:nvPr>
        </p:nvSpPr>
        <p:spPr>
          <a:xfrm>
            <a:off x="804672" y="6227064"/>
            <a:ext cx="5942203" cy="320040"/>
          </a:xfrm>
        </p:spPr>
        <p:txBody>
          <a:bodyPr/>
          <a:lstStyle/>
          <a:p>
            <a:endParaRPr lang="en-CA"/>
          </a:p>
        </p:txBody>
      </p:sp>
      <p:sp>
        <p:nvSpPr>
          <p:cNvPr id="7" name="Slide Number Placeholder 6"/>
          <p:cNvSpPr>
            <a:spLocks noGrp="1"/>
          </p:cNvSpPr>
          <p:nvPr>
            <p:ph type="sldNum" sz="quarter" idx="12"/>
          </p:nvPr>
        </p:nvSpPr>
        <p:spPr>
          <a:xfrm>
            <a:off x="5828377"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1253199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BACA7D-951F-4D37-A24A-A24EBC5CE8C0}" type="datetimeFigureOut">
              <a:rPr lang="en-CA" smtClean="0"/>
              <a:t>2019-03-01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2230048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08BACA7D-951F-4D37-A24A-A24EBC5CE8C0}" type="datetimeFigureOut">
              <a:rPr lang="en-CA" smtClean="0"/>
              <a:t>2019-03-01</a:t>
            </a:fld>
            <a:endParaRPr lang="en-CA"/>
          </a:p>
        </p:txBody>
      </p:sp>
      <p:sp>
        <p:nvSpPr>
          <p:cNvPr id="5" name="Footer Placeholder 4"/>
          <p:cNvSpPr>
            <a:spLocks noGrp="1"/>
          </p:cNvSpPr>
          <p:nvPr>
            <p:ph type="ftr" sz="quarter" idx="11"/>
          </p:nvPr>
        </p:nvSpPr>
        <p:spPr>
          <a:xfrm>
            <a:off x="804672" y="6227064"/>
            <a:ext cx="10588752" cy="320040"/>
          </a:xfrm>
        </p:spPr>
        <p:txBody>
          <a:bodyPr/>
          <a:lstStyle/>
          <a:p>
            <a:endParaRPr lang="en-CA"/>
          </a:p>
        </p:txBody>
      </p:sp>
      <p:sp>
        <p:nvSpPr>
          <p:cNvPr id="6" name="Slide Number Placeholder 5"/>
          <p:cNvSpPr>
            <a:spLocks noGrp="1"/>
          </p:cNvSpPr>
          <p:nvPr>
            <p:ph type="sldNum" sz="quarter" idx="12"/>
          </p:nvPr>
        </p:nvSpPr>
        <p:spPr>
          <a:xfrm>
            <a:off x="10469880" y="320040"/>
            <a:ext cx="914400" cy="320040"/>
          </a:xfrm>
        </p:spPr>
        <p:txBody>
          <a:bodyPr/>
          <a:lstStyle/>
          <a:p>
            <a:fld id="{C4A95517-3C22-47AA-9A94-D4E8A03B21A0}" type="slidenum">
              <a:rPr lang="en-CA" smtClean="0"/>
              <a:t>‹#›</a:t>
            </a:fld>
            <a:endParaRPr lang="en-CA"/>
          </a:p>
        </p:txBody>
      </p:sp>
    </p:spTree>
    <p:extLst>
      <p:ext uri="{BB962C8B-B14F-4D97-AF65-F5344CB8AC3E}">
        <p14:creationId xmlns:p14="http://schemas.microsoft.com/office/powerpoint/2010/main" val="2054512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08BACA7D-951F-4D37-A24A-A24EBC5CE8C0}" type="datetimeFigureOut">
              <a:rPr lang="en-CA" smtClean="0"/>
              <a:t>2019-03-01</a:t>
            </a:fld>
            <a:endParaRPr lang="en-CA"/>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C4A95517-3C22-47AA-9A94-D4E8A03B21A0}" type="slidenum">
              <a:rPr lang="en-CA" smtClean="0"/>
              <a:t>‹#›</a:t>
            </a:fld>
            <a:endParaRPr lang="en-CA"/>
          </a:p>
        </p:txBody>
      </p:sp>
    </p:spTree>
    <p:extLst>
      <p:ext uri="{BB962C8B-B14F-4D97-AF65-F5344CB8AC3E}">
        <p14:creationId xmlns:p14="http://schemas.microsoft.com/office/powerpoint/2010/main" val="20089218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7">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1"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accent1">
                  <a:alpha val="1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3"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accent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accent1">
                  <a:alpha val="7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accent1">
                  <a:alpha val="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accent1">
                  <a:alpha val="4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2AFBF375-0B75-470B-87FA-F740098BA4DE}"/>
              </a:ext>
            </a:extLst>
          </p:cNvPr>
          <p:cNvSpPr>
            <a:spLocks noGrp="1"/>
          </p:cNvSpPr>
          <p:nvPr>
            <p:ph type="ctrTitle"/>
          </p:nvPr>
        </p:nvSpPr>
        <p:spPr>
          <a:xfrm>
            <a:off x="2037374" y="1263404"/>
            <a:ext cx="8247189" cy="3115075"/>
          </a:xfrm>
        </p:spPr>
        <p:txBody>
          <a:bodyPr>
            <a:normAutofit/>
          </a:bodyPr>
          <a:lstStyle/>
          <a:p>
            <a:pPr algn="l"/>
            <a:r>
              <a:rPr lang="en-CA" sz="7200" dirty="0">
                <a:solidFill>
                  <a:schemeClr val="accent1"/>
                </a:solidFill>
              </a:rPr>
              <a:t>GJK</a:t>
            </a:r>
            <a:br>
              <a:rPr lang="en-CA" sz="7200" dirty="0">
                <a:solidFill>
                  <a:schemeClr val="accent1"/>
                </a:solidFill>
              </a:rPr>
            </a:br>
            <a:r>
              <a:rPr lang="en-CA" sz="7200" dirty="0">
                <a:solidFill>
                  <a:schemeClr val="accent1"/>
                </a:solidFill>
              </a:rPr>
              <a:t>Support Function</a:t>
            </a:r>
          </a:p>
        </p:txBody>
      </p:sp>
      <p:sp>
        <p:nvSpPr>
          <p:cNvPr id="3" name="Subtitle 2">
            <a:extLst>
              <a:ext uri="{FF2B5EF4-FFF2-40B4-BE49-F238E27FC236}">
                <a16:creationId xmlns:a16="http://schemas.microsoft.com/office/drawing/2014/main" id="{12A204C0-B5C9-4319-850B-A7E5332695FA}"/>
              </a:ext>
            </a:extLst>
          </p:cNvPr>
          <p:cNvSpPr>
            <a:spLocks noGrp="1"/>
          </p:cNvSpPr>
          <p:nvPr>
            <p:ph type="subTitle" idx="1"/>
          </p:nvPr>
        </p:nvSpPr>
        <p:spPr>
          <a:xfrm>
            <a:off x="2037374" y="4560432"/>
            <a:ext cx="8300202" cy="1228171"/>
          </a:xfrm>
        </p:spPr>
        <p:txBody>
          <a:bodyPr>
            <a:normAutofit/>
          </a:bodyPr>
          <a:lstStyle/>
          <a:p>
            <a:pPr algn="l"/>
            <a:r>
              <a:rPr lang="en-CA" sz="2400">
                <a:solidFill>
                  <a:schemeClr val="tx1"/>
                </a:solidFill>
              </a:rPr>
              <a:t>Game 256</a:t>
            </a:r>
          </a:p>
        </p:txBody>
      </p:sp>
      <p:sp>
        <p:nvSpPr>
          <p:cNvPr id="35" name="Isosceles Triangle 30">
            <a:extLst>
              <a:ext uri="{FF2B5EF4-FFF2-40B4-BE49-F238E27FC236}">
                <a16:creationId xmlns:a16="http://schemas.microsoft.com/office/drawing/2014/main" id="{3F39476B-1A6D-47CB-AC7A-FB87EF003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90253" y="3276595"/>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096843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D8F22-21AC-455F-A7F8-EEA2C5A8EB6F}"/>
              </a:ext>
            </a:extLst>
          </p:cNvPr>
          <p:cNvSpPr>
            <a:spLocks noGrp="1"/>
          </p:cNvSpPr>
          <p:nvPr>
            <p:ph type="title"/>
          </p:nvPr>
        </p:nvSpPr>
        <p:spPr>
          <a:xfrm>
            <a:off x="645459" y="960120"/>
            <a:ext cx="3865695" cy="4171278"/>
          </a:xfrm>
        </p:spPr>
        <p:txBody>
          <a:bodyPr>
            <a:normAutofit/>
          </a:bodyPr>
          <a:lstStyle/>
          <a:p>
            <a:pPr algn="r"/>
            <a:r>
              <a:rPr lang="en-CA" sz="4400">
                <a:solidFill>
                  <a:schemeClr val="tx1"/>
                </a:solidFill>
              </a:rPr>
              <a:t>Overview</a:t>
            </a:r>
          </a:p>
        </p:txBody>
      </p:sp>
      <p:cxnSp>
        <p:nvCxnSpPr>
          <p:cNvPr id="40"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1" name="Content Placeholder 2">
            <a:extLst>
              <a:ext uri="{FF2B5EF4-FFF2-40B4-BE49-F238E27FC236}">
                <a16:creationId xmlns:a16="http://schemas.microsoft.com/office/drawing/2014/main" id="{124341B9-6421-4666-B342-1FE02A77893C}"/>
              </a:ext>
            </a:extLst>
          </p:cNvPr>
          <p:cNvSpPr>
            <a:spLocks noGrp="1"/>
          </p:cNvSpPr>
          <p:nvPr>
            <p:ph idx="1"/>
          </p:nvPr>
        </p:nvSpPr>
        <p:spPr>
          <a:xfrm>
            <a:off x="4983164" y="960120"/>
            <a:ext cx="5511800" cy="4171278"/>
          </a:xfrm>
        </p:spPr>
        <p:txBody>
          <a:bodyPr>
            <a:normAutofit/>
          </a:bodyPr>
          <a:lstStyle/>
          <a:p>
            <a:r>
              <a:rPr lang="en-CA"/>
              <a:t>Support Points</a:t>
            </a:r>
          </a:p>
          <a:p>
            <a:r>
              <a:rPr lang="en-CA"/>
              <a:t>Support Function</a:t>
            </a:r>
          </a:p>
          <a:p>
            <a:r>
              <a:rPr lang="en-CA"/>
              <a:t>Visualisation</a:t>
            </a:r>
          </a:p>
          <a:p>
            <a:r>
              <a:rPr lang="en-CA"/>
              <a:t>Building a Simplex</a:t>
            </a:r>
          </a:p>
        </p:txBody>
      </p:sp>
    </p:spTree>
    <p:extLst>
      <p:ext uri="{BB962C8B-B14F-4D97-AF65-F5344CB8AC3E}">
        <p14:creationId xmlns:p14="http://schemas.microsoft.com/office/powerpoint/2010/main" val="227512839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2259BF-94FE-4C3B-820C-D85402843987}"/>
              </a:ext>
            </a:extLst>
          </p:cNvPr>
          <p:cNvSpPr>
            <a:spLocks noGrp="1"/>
          </p:cNvSpPr>
          <p:nvPr>
            <p:ph type="title"/>
          </p:nvPr>
        </p:nvSpPr>
        <p:spPr/>
        <p:txBody>
          <a:bodyPr/>
          <a:lstStyle/>
          <a:p>
            <a:r>
              <a:rPr lang="en-CA" dirty="0"/>
              <a:t>Support Points</a:t>
            </a:r>
          </a:p>
        </p:txBody>
      </p:sp>
      <p:sp>
        <p:nvSpPr>
          <p:cNvPr id="5" name="Text Placeholder 4">
            <a:extLst>
              <a:ext uri="{FF2B5EF4-FFF2-40B4-BE49-F238E27FC236}">
                <a16:creationId xmlns:a16="http://schemas.microsoft.com/office/drawing/2014/main" id="{921EB11A-409E-4368-B06B-224E18387E54}"/>
              </a:ext>
            </a:extLst>
          </p:cNvPr>
          <p:cNvSpPr>
            <a:spLocks noGrp="1"/>
          </p:cNvSpPr>
          <p:nvPr>
            <p:ph type="body" idx="1"/>
          </p:nvPr>
        </p:nvSpPr>
        <p:spPr/>
        <p:txBody>
          <a:bodyPr/>
          <a:lstStyle/>
          <a:p>
            <a:r>
              <a:rPr lang="en-CA" dirty="0"/>
              <a:t>The farthest point in a given direction on a shape.</a:t>
            </a:r>
          </a:p>
        </p:txBody>
      </p:sp>
    </p:spTree>
    <p:extLst>
      <p:ext uri="{BB962C8B-B14F-4D97-AF65-F5344CB8AC3E}">
        <p14:creationId xmlns:p14="http://schemas.microsoft.com/office/powerpoint/2010/main" val="362531782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9">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11">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0"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9"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0"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5" name="Rectangle 34">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9AEE275-79C7-4F82-9F34-EFD27CB77ED9}"/>
              </a:ext>
            </a:extLst>
          </p:cNvPr>
          <p:cNvSpPr>
            <a:spLocks noGrp="1"/>
          </p:cNvSpPr>
          <p:nvPr>
            <p:ph type="title"/>
          </p:nvPr>
        </p:nvSpPr>
        <p:spPr>
          <a:xfrm>
            <a:off x="2880485" y="841375"/>
            <a:ext cx="6230857" cy="1230570"/>
          </a:xfrm>
        </p:spPr>
        <p:txBody>
          <a:bodyPr anchor="t">
            <a:normAutofit/>
          </a:bodyPr>
          <a:lstStyle/>
          <a:p>
            <a:pPr algn="l"/>
            <a:r>
              <a:rPr lang="en-CA" sz="3600">
                <a:solidFill>
                  <a:schemeClr val="accent1"/>
                </a:solidFill>
              </a:rPr>
              <a:t>Support Points</a:t>
            </a:r>
          </a:p>
        </p:txBody>
      </p:sp>
      <p:sp>
        <p:nvSpPr>
          <p:cNvPr id="37" name="Isosceles Triangle 36">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5" name="Content Placeholder 4">
            <a:extLst>
              <a:ext uri="{FF2B5EF4-FFF2-40B4-BE49-F238E27FC236}">
                <a16:creationId xmlns:a16="http://schemas.microsoft.com/office/drawing/2014/main" id="{49966F32-94BF-4FA7-98A0-62BF7BE4F379}"/>
              </a:ext>
            </a:extLst>
          </p:cNvPr>
          <p:cNvSpPr>
            <a:spLocks noGrp="1"/>
          </p:cNvSpPr>
          <p:nvPr>
            <p:ph idx="1"/>
          </p:nvPr>
        </p:nvSpPr>
        <p:spPr>
          <a:xfrm>
            <a:off x="2880487" y="2249046"/>
            <a:ext cx="6123783" cy="3802762"/>
          </a:xfrm>
        </p:spPr>
        <p:txBody>
          <a:bodyPr anchor="t">
            <a:normAutofit/>
          </a:bodyPr>
          <a:lstStyle/>
          <a:p>
            <a:r>
              <a:rPr lang="en-CA" sz="1600"/>
              <a:t>At its most intuitive:</a:t>
            </a:r>
          </a:p>
          <a:p>
            <a:pPr lvl="1"/>
            <a:r>
              <a:rPr lang="en-CA"/>
              <a:t>Iterate </a:t>
            </a:r>
            <a:r>
              <a:rPr lang="en-CA" dirty="0"/>
              <a:t>across all vertices in mesh.</a:t>
            </a:r>
          </a:p>
          <a:p>
            <a:pPr lvl="1"/>
            <a:r>
              <a:rPr lang="en-CA" dirty="0"/>
              <a:t>Find the farthest point in a given direction (dot product.)</a:t>
            </a:r>
          </a:p>
          <a:p>
            <a:pPr lvl="1"/>
            <a:r>
              <a:rPr lang="en-CA" dirty="0"/>
              <a:t>Return that point.</a:t>
            </a:r>
          </a:p>
        </p:txBody>
      </p:sp>
    </p:spTree>
    <p:extLst>
      <p:ext uri="{BB962C8B-B14F-4D97-AF65-F5344CB8AC3E}">
        <p14:creationId xmlns:p14="http://schemas.microsoft.com/office/powerpoint/2010/main" val="317671032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C64D7-23FA-4126-8A86-5182CD5BCFEE}"/>
              </a:ext>
            </a:extLst>
          </p:cNvPr>
          <p:cNvSpPr>
            <a:spLocks noGrp="1"/>
          </p:cNvSpPr>
          <p:nvPr>
            <p:ph type="title"/>
          </p:nvPr>
        </p:nvSpPr>
        <p:spPr/>
        <p:txBody>
          <a:bodyPr/>
          <a:lstStyle/>
          <a:p>
            <a:r>
              <a:rPr lang="en-CA" dirty="0"/>
              <a:t>Support Function</a:t>
            </a:r>
          </a:p>
        </p:txBody>
      </p:sp>
      <p:sp>
        <p:nvSpPr>
          <p:cNvPr id="4" name="Text Placeholder 3">
            <a:extLst>
              <a:ext uri="{FF2B5EF4-FFF2-40B4-BE49-F238E27FC236}">
                <a16:creationId xmlns:a16="http://schemas.microsoft.com/office/drawing/2014/main" id="{7B69B049-434C-4686-BC8F-FFF74FAFB9A0}"/>
              </a:ext>
            </a:extLst>
          </p:cNvPr>
          <p:cNvSpPr>
            <a:spLocks noGrp="1"/>
          </p:cNvSpPr>
          <p:nvPr>
            <p:ph type="body" idx="1"/>
          </p:nvPr>
        </p:nvSpPr>
        <p:spPr/>
        <p:txBody>
          <a:bodyPr/>
          <a:lstStyle/>
          <a:p>
            <a:r>
              <a:rPr lang="en-CA" dirty="0"/>
              <a:t>Using support points generate the necessary </a:t>
            </a:r>
            <a:r>
              <a:rPr lang="en-CA" dirty="0" err="1"/>
              <a:t>Minkowski</a:t>
            </a:r>
            <a:r>
              <a:rPr lang="en-CA" dirty="0"/>
              <a:t> Sum support point.</a:t>
            </a:r>
          </a:p>
        </p:txBody>
      </p:sp>
    </p:spTree>
    <p:extLst>
      <p:ext uri="{BB962C8B-B14F-4D97-AF65-F5344CB8AC3E}">
        <p14:creationId xmlns:p14="http://schemas.microsoft.com/office/powerpoint/2010/main" val="387267186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9"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0"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5" name="Rectangle 34">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8D808C4-88DE-4E41-8421-566231ED0C11}"/>
              </a:ext>
            </a:extLst>
          </p:cNvPr>
          <p:cNvSpPr>
            <a:spLocks noGrp="1"/>
          </p:cNvSpPr>
          <p:nvPr>
            <p:ph type="title"/>
          </p:nvPr>
        </p:nvSpPr>
        <p:spPr>
          <a:xfrm>
            <a:off x="2880485" y="841375"/>
            <a:ext cx="6230857" cy="1230570"/>
          </a:xfrm>
        </p:spPr>
        <p:txBody>
          <a:bodyPr anchor="t">
            <a:normAutofit/>
          </a:bodyPr>
          <a:lstStyle/>
          <a:p>
            <a:pPr algn="l"/>
            <a:r>
              <a:rPr lang="en-CA" sz="3600">
                <a:solidFill>
                  <a:schemeClr val="accent1"/>
                </a:solidFill>
              </a:rPr>
              <a:t>Support Function</a:t>
            </a:r>
          </a:p>
        </p:txBody>
      </p:sp>
      <p:sp>
        <p:nvSpPr>
          <p:cNvPr id="37" name="Isosceles Triangle 36">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5" name="Content Placeholder 4">
            <a:extLst>
              <a:ext uri="{FF2B5EF4-FFF2-40B4-BE49-F238E27FC236}">
                <a16:creationId xmlns:a16="http://schemas.microsoft.com/office/drawing/2014/main" id="{7C42CE52-CDDA-4889-8AF7-24F8E51804F3}"/>
              </a:ext>
            </a:extLst>
          </p:cNvPr>
          <p:cNvSpPr>
            <a:spLocks noGrp="1"/>
          </p:cNvSpPr>
          <p:nvPr>
            <p:ph idx="1"/>
          </p:nvPr>
        </p:nvSpPr>
        <p:spPr>
          <a:xfrm>
            <a:off x="2880487" y="2249046"/>
            <a:ext cx="6123783" cy="3802762"/>
          </a:xfrm>
        </p:spPr>
        <p:txBody>
          <a:bodyPr anchor="t">
            <a:normAutofit/>
          </a:bodyPr>
          <a:lstStyle/>
          <a:p>
            <a:r>
              <a:rPr lang="en-CA" sz="1600"/>
              <a:t>At its most intuitive:</a:t>
            </a:r>
          </a:p>
          <a:p>
            <a:pPr lvl="1"/>
            <a:r>
              <a:rPr lang="en-CA" dirty="0"/>
              <a:t>Get the support point from mesh A, along direction d.</a:t>
            </a:r>
          </a:p>
          <a:p>
            <a:pPr lvl="1"/>
            <a:r>
              <a:rPr lang="en-CA" dirty="0"/>
              <a:t>Get the support point from mesh B, along direction –d.</a:t>
            </a:r>
          </a:p>
          <a:p>
            <a:pPr lvl="1"/>
            <a:r>
              <a:rPr lang="en-CA" dirty="0"/>
              <a:t>A + -B.</a:t>
            </a:r>
          </a:p>
        </p:txBody>
      </p:sp>
    </p:spTree>
    <p:extLst>
      <p:ext uri="{BB962C8B-B14F-4D97-AF65-F5344CB8AC3E}">
        <p14:creationId xmlns:p14="http://schemas.microsoft.com/office/powerpoint/2010/main" val="105958791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0D844E-0BB7-46D7-80D6-1F1CA15B5304}"/>
              </a:ext>
            </a:extLst>
          </p:cNvPr>
          <p:cNvSpPr>
            <a:spLocks noGrp="1"/>
          </p:cNvSpPr>
          <p:nvPr>
            <p:ph type="title"/>
          </p:nvPr>
        </p:nvSpPr>
        <p:spPr/>
        <p:txBody>
          <a:bodyPr/>
          <a:lstStyle/>
          <a:p>
            <a:r>
              <a:rPr lang="en-CA" dirty="0"/>
              <a:t>Visualisation</a:t>
            </a:r>
          </a:p>
        </p:txBody>
      </p:sp>
      <p:sp>
        <p:nvSpPr>
          <p:cNvPr id="5" name="Text Placeholder 4">
            <a:extLst>
              <a:ext uri="{FF2B5EF4-FFF2-40B4-BE49-F238E27FC236}">
                <a16:creationId xmlns:a16="http://schemas.microsoft.com/office/drawing/2014/main" id="{6332EE79-C83D-4A64-BD71-5C66F4C95668}"/>
              </a:ext>
            </a:extLst>
          </p:cNvPr>
          <p:cNvSpPr>
            <a:spLocks noGrp="1"/>
          </p:cNvSpPr>
          <p:nvPr>
            <p:ph type="body" idx="1"/>
          </p:nvPr>
        </p:nvSpPr>
        <p:spPr/>
        <p:txBody>
          <a:bodyPr/>
          <a:lstStyle/>
          <a:p>
            <a:r>
              <a:rPr lang="en-CA" dirty="0"/>
              <a:t>Lets take a look at how a tetrahedron is built.</a:t>
            </a:r>
          </a:p>
        </p:txBody>
      </p:sp>
    </p:spTree>
    <p:extLst>
      <p:ext uri="{BB962C8B-B14F-4D97-AF65-F5344CB8AC3E}">
        <p14:creationId xmlns:p14="http://schemas.microsoft.com/office/powerpoint/2010/main" val="103534897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7"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87BBC67-1AEF-417D-B10D-0BD2174DE902}"/>
              </a:ext>
            </a:extLst>
          </p:cNvPr>
          <p:cNvSpPr>
            <a:spLocks noGrp="1"/>
          </p:cNvSpPr>
          <p:nvPr>
            <p:ph type="title"/>
          </p:nvPr>
        </p:nvSpPr>
        <p:spPr>
          <a:xfrm>
            <a:off x="7269686" y="795527"/>
            <a:ext cx="4123738" cy="1433323"/>
          </a:xfrm>
        </p:spPr>
        <p:txBody>
          <a:bodyPr>
            <a:normAutofit/>
          </a:bodyPr>
          <a:lstStyle/>
          <a:p>
            <a:pPr algn="l"/>
            <a:r>
              <a:rPr lang="en-CA" sz="3200">
                <a:solidFill>
                  <a:schemeClr val="tx2"/>
                </a:solidFill>
              </a:rPr>
              <a:t>Visualisation</a:t>
            </a:r>
          </a:p>
        </p:txBody>
      </p:sp>
      <p:sp>
        <p:nvSpPr>
          <p:cNvPr id="39" name="Rectangle 38">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1F1FF9"/>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5">
            <a:extLst>
              <a:ext uri="{FF2B5EF4-FFF2-40B4-BE49-F238E27FC236}">
                <a16:creationId xmlns:a16="http://schemas.microsoft.com/office/drawing/2014/main" id="{B99DE2E1-F58E-4A05-989C-311DA2F1BD70}"/>
              </a:ext>
            </a:extLst>
          </p:cNvPr>
          <p:cNvPicPr>
            <a:picLocks noChangeAspect="1"/>
          </p:cNvPicPr>
          <p:nvPr/>
        </p:nvPicPr>
        <p:blipFill rotWithShape="1">
          <a:blip r:embed="rId2">
            <a:extLst>
              <a:ext uri="{28A0092B-C50C-407E-A947-70E740481C1C}">
                <a14:useLocalDpi xmlns:a14="http://schemas.microsoft.com/office/drawing/2010/main" val="0"/>
              </a:ext>
            </a:extLst>
          </a:blip>
          <a:srcRect l="18106" r="17383" b="-1"/>
          <a:stretch/>
        </p:blipFill>
        <p:spPr>
          <a:xfrm>
            <a:off x="972115" y="960214"/>
            <a:ext cx="5641848" cy="4919472"/>
          </a:xfrm>
          <a:prstGeom prst="rect">
            <a:avLst/>
          </a:prstGeom>
          <a:ln w="12700">
            <a:noFill/>
          </a:ln>
        </p:spPr>
      </p:pic>
      <p:sp>
        <p:nvSpPr>
          <p:cNvPr id="11" name="Content Placeholder 10">
            <a:extLst>
              <a:ext uri="{FF2B5EF4-FFF2-40B4-BE49-F238E27FC236}">
                <a16:creationId xmlns:a16="http://schemas.microsoft.com/office/drawing/2014/main" id="{2BB26823-E830-4FC0-837B-0F296E2A4343}"/>
              </a:ext>
            </a:extLst>
          </p:cNvPr>
          <p:cNvSpPr>
            <a:spLocks noGrp="1"/>
          </p:cNvSpPr>
          <p:nvPr>
            <p:ph idx="1"/>
          </p:nvPr>
        </p:nvSpPr>
        <p:spPr>
          <a:xfrm>
            <a:off x="7293817" y="2338388"/>
            <a:ext cx="4099607" cy="3678237"/>
          </a:xfrm>
        </p:spPr>
        <p:txBody>
          <a:bodyPr>
            <a:normAutofit/>
          </a:bodyPr>
          <a:lstStyle/>
          <a:p>
            <a:pPr>
              <a:buClr>
                <a:srgbClr val="1F1FF9"/>
              </a:buClr>
            </a:pPr>
            <a:r>
              <a:rPr lang="en-US" dirty="0"/>
              <a:t>Yellow points are support points on each mesh.</a:t>
            </a:r>
          </a:p>
          <a:p>
            <a:pPr>
              <a:buClr>
                <a:srgbClr val="1F1FF9"/>
              </a:buClr>
            </a:pPr>
            <a:r>
              <a:rPr lang="en-US" dirty="0"/>
              <a:t>Green points are support points on </a:t>
            </a:r>
            <a:r>
              <a:rPr lang="en-US" dirty="0" err="1"/>
              <a:t>Minkowski</a:t>
            </a:r>
            <a:r>
              <a:rPr lang="en-US" dirty="0"/>
              <a:t> Sum.</a:t>
            </a:r>
          </a:p>
          <a:p>
            <a:pPr>
              <a:buClr>
                <a:srgbClr val="1F1FF9"/>
              </a:buClr>
            </a:pPr>
            <a:r>
              <a:rPr lang="en-US" dirty="0"/>
              <a:t>Blue line is direction of search.</a:t>
            </a:r>
          </a:p>
        </p:txBody>
      </p:sp>
    </p:spTree>
    <p:extLst>
      <p:ext uri="{BB962C8B-B14F-4D97-AF65-F5344CB8AC3E}">
        <p14:creationId xmlns:p14="http://schemas.microsoft.com/office/powerpoint/2010/main" val="192999687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6"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0C60011-C831-4841-8804-0AF269535B01}"/>
              </a:ext>
            </a:extLst>
          </p:cNvPr>
          <p:cNvSpPr>
            <a:spLocks noGrp="1"/>
          </p:cNvSpPr>
          <p:nvPr>
            <p:ph type="title"/>
          </p:nvPr>
        </p:nvSpPr>
        <p:spPr>
          <a:xfrm>
            <a:off x="7269686" y="795527"/>
            <a:ext cx="4123738" cy="1433323"/>
          </a:xfrm>
        </p:spPr>
        <p:txBody>
          <a:bodyPr>
            <a:normAutofit/>
          </a:bodyPr>
          <a:lstStyle/>
          <a:p>
            <a:pPr algn="l"/>
            <a:r>
              <a:rPr lang="en-CA" sz="3200">
                <a:solidFill>
                  <a:schemeClr val="tx2"/>
                </a:solidFill>
              </a:rPr>
              <a:t>Visualisation</a:t>
            </a:r>
          </a:p>
        </p:txBody>
      </p:sp>
      <p:sp>
        <p:nvSpPr>
          <p:cNvPr id="38" name="Rectangle 37">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23EB23"/>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descr="A close up of a logo&#10;&#10;Description automatically generated">
            <a:extLst>
              <a:ext uri="{FF2B5EF4-FFF2-40B4-BE49-F238E27FC236}">
                <a16:creationId xmlns:a16="http://schemas.microsoft.com/office/drawing/2014/main" id="{0A01940C-6DC4-473D-B30E-50EF9D72E79B}"/>
              </a:ext>
            </a:extLst>
          </p:cNvPr>
          <p:cNvPicPr>
            <a:picLocks noChangeAspect="1"/>
          </p:cNvPicPr>
          <p:nvPr/>
        </p:nvPicPr>
        <p:blipFill rotWithShape="1">
          <a:blip r:embed="rId2">
            <a:extLst>
              <a:ext uri="{28A0092B-C50C-407E-A947-70E740481C1C}">
                <a14:useLocalDpi xmlns:a14="http://schemas.microsoft.com/office/drawing/2010/main" val="0"/>
              </a:ext>
            </a:extLst>
          </a:blip>
          <a:srcRect l="18146" r="17343" b="-1"/>
          <a:stretch/>
        </p:blipFill>
        <p:spPr>
          <a:xfrm>
            <a:off x="972115" y="960214"/>
            <a:ext cx="5641848" cy="4919472"/>
          </a:xfrm>
          <a:prstGeom prst="rect">
            <a:avLst/>
          </a:prstGeom>
          <a:ln w="12700">
            <a:noFill/>
          </a:ln>
        </p:spPr>
      </p:pic>
      <p:sp>
        <p:nvSpPr>
          <p:cNvPr id="10" name="Content Placeholder 9">
            <a:extLst>
              <a:ext uri="{FF2B5EF4-FFF2-40B4-BE49-F238E27FC236}">
                <a16:creationId xmlns:a16="http://schemas.microsoft.com/office/drawing/2014/main" id="{E1253398-6E7D-4365-A9BE-A3D00CEA8155}"/>
              </a:ext>
            </a:extLst>
          </p:cNvPr>
          <p:cNvSpPr>
            <a:spLocks noGrp="1"/>
          </p:cNvSpPr>
          <p:nvPr>
            <p:ph idx="1"/>
          </p:nvPr>
        </p:nvSpPr>
        <p:spPr>
          <a:xfrm>
            <a:off x="7293817" y="2338388"/>
            <a:ext cx="4099607" cy="3678237"/>
          </a:xfrm>
        </p:spPr>
        <p:txBody>
          <a:bodyPr>
            <a:normAutofit/>
          </a:bodyPr>
          <a:lstStyle/>
          <a:p>
            <a:pPr>
              <a:buClr>
                <a:srgbClr val="23EB23"/>
              </a:buClr>
            </a:pPr>
            <a:r>
              <a:rPr lang="en-US" dirty="0"/>
              <a:t>From the direction and the support point on the </a:t>
            </a:r>
            <a:r>
              <a:rPr lang="en-US" dirty="0" err="1"/>
              <a:t>Minkowski</a:t>
            </a:r>
            <a:r>
              <a:rPr lang="en-US" dirty="0"/>
              <a:t> Sum we get the first vertex of the simplex.</a:t>
            </a:r>
          </a:p>
          <a:p>
            <a:pPr>
              <a:buClr>
                <a:srgbClr val="23EB23"/>
              </a:buClr>
            </a:pPr>
            <a:r>
              <a:rPr lang="en-US" dirty="0"/>
              <a:t>We now have a point simplex.</a:t>
            </a:r>
          </a:p>
        </p:txBody>
      </p:sp>
    </p:spTree>
    <p:extLst>
      <p:ext uri="{BB962C8B-B14F-4D97-AF65-F5344CB8AC3E}">
        <p14:creationId xmlns:p14="http://schemas.microsoft.com/office/powerpoint/2010/main" val="64022613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6"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659DAF81-E174-4286-B6C4-ADC19D4574E1}"/>
              </a:ext>
            </a:extLst>
          </p:cNvPr>
          <p:cNvSpPr>
            <a:spLocks noGrp="1"/>
          </p:cNvSpPr>
          <p:nvPr>
            <p:ph type="title"/>
          </p:nvPr>
        </p:nvSpPr>
        <p:spPr>
          <a:xfrm>
            <a:off x="7269686" y="795527"/>
            <a:ext cx="4123738" cy="1433323"/>
          </a:xfrm>
        </p:spPr>
        <p:txBody>
          <a:bodyPr>
            <a:normAutofit/>
          </a:bodyPr>
          <a:lstStyle/>
          <a:p>
            <a:pPr algn="l"/>
            <a:r>
              <a:rPr lang="en-CA" sz="3200">
                <a:solidFill>
                  <a:schemeClr val="tx2"/>
                </a:solidFill>
              </a:rPr>
              <a:t>Visualisation</a:t>
            </a:r>
          </a:p>
        </p:txBody>
      </p:sp>
      <p:sp>
        <p:nvSpPr>
          <p:cNvPr id="38" name="Rectangle 37">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F5E21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a:extLst>
              <a:ext uri="{FF2B5EF4-FFF2-40B4-BE49-F238E27FC236}">
                <a16:creationId xmlns:a16="http://schemas.microsoft.com/office/drawing/2014/main" id="{9139EA2C-5FF9-49E9-9B29-94168D3B30C9}"/>
              </a:ext>
            </a:extLst>
          </p:cNvPr>
          <p:cNvPicPr>
            <a:picLocks noChangeAspect="1"/>
          </p:cNvPicPr>
          <p:nvPr/>
        </p:nvPicPr>
        <p:blipFill rotWithShape="1">
          <a:blip r:embed="rId2">
            <a:extLst>
              <a:ext uri="{28A0092B-C50C-407E-A947-70E740481C1C}">
                <a14:useLocalDpi xmlns:a14="http://schemas.microsoft.com/office/drawing/2010/main" val="0"/>
              </a:ext>
            </a:extLst>
          </a:blip>
          <a:srcRect l="18065" r="17424" b="-1"/>
          <a:stretch/>
        </p:blipFill>
        <p:spPr>
          <a:xfrm>
            <a:off x="972115" y="960214"/>
            <a:ext cx="5641848" cy="4919472"/>
          </a:xfrm>
          <a:prstGeom prst="rect">
            <a:avLst/>
          </a:prstGeom>
          <a:ln w="12700">
            <a:noFill/>
          </a:ln>
        </p:spPr>
      </p:pic>
      <p:sp>
        <p:nvSpPr>
          <p:cNvPr id="10" name="Content Placeholder 9">
            <a:extLst>
              <a:ext uri="{FF2B5EF4-FFF2-40B4-BE49-F238E27FC236}">
                <a16:creationId xmlns:a16="http://schemas.microsoft.com/office/drawing/2014/main" id="{BB7291EA-C843-401B-ADC7-2BF0F527274B}"/>
              </a:ext>
            </a:extLst>
          </p:cNvPr>
          <p:cNvSpPr>
            <a:spLocks noGrp="1"/>
          </p:cNvSpPr>
          <p:nvPr>
            <p:ph idx="1"/>
          </p:nvPr>
        </p:nvSpPr>
        <p:spPr>
          <a:xfrm>
            <a:off x="7293817" y="2338388"/>
            <a:ext cx="4099607" cy="3678237"/>
          </a:xfrm>
        </p:spPr>
        <p:txBody>
          <a:bodyPr>
            <a:normAutofit/>
          </a:bodyPr>
          <a:lstStyle/>
          <a:p>
            <a:pPr>
              <a:buClr>
                <a:srgbClr val="F5E210"/>
              </a:buClr>
            </a:pPr>
            <a:r>
              <a:rPr lang="en-US" dirty="0"/>
              <a:t>Yellow points are the new support points given the new search direction (blue line.)</a:t>
            </a:r>
          </a:p>
        </p:txBody>
      </p:sp>
    </p:spTree>
    <p:extLst>
      <p:ext uri="{BB962C8B-B14F-4D97-AF65-F5344CB8AC3E}">
        <p14:creationId xmlns:p14="http://schemas.microsoft.com/office/powerpoint/2010/main" val="162123440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6"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E6DD11A-C318-4962-AA64-CB0F0E142220}"/>
              </a:ext>
            </a:extLst>
          </p:cNvPr>
          <p:cNvSpPr>
            <a:spLocks noGrp="1"/>
          </p:cNvSpPr>
          <p:nvPr>
            <p:ph type="title"/>
          </p:nvPr>
        </p:nvSpPr>
        <p:spPr>
          <a:xfrm>
            <a:off x="7269686" y="795527"/>
            <a:ext cx="4123738" cy="1433323"/>
          </a:xfrm>
        </p:spPr>
        <p:txBody>
          <a:bodyPr>
            <a:normAutofit/>
          </a:bodyPr>
          <a:lstStyle/>
          <a:p>
            <a:pPr algn="l"/>
            <a:r>
              <a:rPr lang="en-CA" sz="3200">
                <a:solidFill>
                  <a:schemeClr val="tx2"/>
                </a:solidFill>
              </a:rPr>
              <a:t>Visualisation</a:t>
            </a:r>
          </a:p>
        </p:txBody>
      </p:sp>
      <p:sp>
        <p:nvSpPr>
          <p:cNvPr id="38" name="Rectangle 37">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31EB3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a:extLst>
              <a:ext uri="{FF2B5EF4-FFF2-40B4-BE49-F238E27FC236}">
                <a16:creationId xmlns:a16="http://schemas.microsoft.com/office/drawing/2014/main" id="{7DEFB496-D764-418E-9400-61C87B6D1AC7}"/>
              </a:ext>
            </a:extLst>
          </p:cNvPr>
          <p:cNvPicPr>
            <a:picLocks noChangeAspect="1"/>
          </p:cNvPicPr>
          <p:nvPr/>
        </p:nvPicPr>
        <p:blipFill rotWithShape="1">
          <a:blip r:embed="rId2">
            <a:extLst>
              <a:ext uri="{28A0092B-C50C-407E-A947-70E740481C1C}">
                <a14:useLocalDpi xmlns:a14="http://schemas.microsoft.com/office/drawing/2010/main" val="0"/>
              </a:ext>
            </a:extLst>
          </a:blip>
          <a:srcRect l="18168" r="17321" b="-1"/>
          <a:stretch/>
        </p:blipFill>
        <p:spPr>
          <a:xfrm>
            <a:off x="972115" y="960214"/>
            <a:ext cx="5641848" cy="4919472"/>
          </a:xfrm>
          <a:prstGeom prst="rect">
            <a:avLst/>
          </a:prstGeom>
          <a:ln w="12700">
            <a:noFill/>
          </a:ln>
        </p:spPr>
      </p:pic>
      <p:sp>
        <p:nvSpPr>
          <p:cNvPr id="10" name="Content Placeholder 9">
            <a:extLst>
              <a:ext uri="{FF2B5EF4-FFF2-40B4-BE49-F238E27FC236}">
                <a16:creationId xmlns:a16="http://schemas.microsoft.com/office/drawing/2014/main" id="{DEF929B7-D281-4B87-8A81-F60608AC811F}"/>
              </a:ext>
            </a:extLst>
          </p:cNvPr>
          <p:cNvSpPr>
            <a:spLocks noGrp="1"/>
          </p:cNvSpPr>
          <p:nvPr>
            <p:ph idx="1"/>
          </p:nvPr>
        </p:nvSpPr>
        <p:spPr>
          <a:xfrm>
            <a:off x="7293817" y="2338388"/>
            <a:ext cx="4099607" cy="3678237"/>
          </a:xfrm>
        </p:spPr>
        <p:txBody>
          <a:bodyPr>
            <a:normAutofit/>
          </a:bodyPr>
          <a:lstStyle/>
          <a:p>
            <a:pPr>
              <a:buClr>
                <a:srgbClr val="31EB31"/>
              </a:buClr>
            </a:pPr>
            <a:r>
              <a:rPr lang="en-US" dirty="0"/>
              <a:t>Using the support points from the previous slide, we can add the new green point to the simplex.</a:t>
            </a:r>
          </a:p>
          <a:p>
            <a:pPr>
              <a:buClr>
                <a:srgbClr val="31EB31"/>
              </a:buClr>
            </a:pPr>
            <a:r>
              <a:rPr lang="en-US" dirty="0"/>
              <a:t>We now have a simplex line.</a:t>
            </a:r>
          </a:p>
          <a:p>
            <a:pPr>
              <a:buClr>
                <a:srgbClr val="31EB31"/>
              </a:buClr>
            </a:pPr>
            <a:r>
              <a:rPr lang="en-US" dirty="0"/>
              <a:t>As well given the blue line, and the yellow support points we know where to look next.</a:t>
            </a:r>
          </a:p>
        </p:txBody>
      </p:sp>
    </p:spTree>
    <p:extLst>
      <p:ext uri="{BB962C8B-B14F-4D97-AF65-F5344CB8AC3E}">
        <p14:creationId xmlns:p14="http://schemas.microsoft.com/office/powerpoint/2010/main" val="274198384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6"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2BB9608B-A2A3-45D2-95BC-61B2E0BE9DA3}"/>
              </a:ext>
            </a:extLst>
          </p:cNvPr>
          <p:cNvSpPr>
            <a:spLocks noGrp="1"/>
          </p:cNvSpPr>
          <p:nvPr>
            <p:ph type="title"/>
          </p:nvPr>
        </p:nvSpPr>
        <p:spPr>
          <a:xfrm>
            <a:off x="7269686" y="795527"/>
            <a:ext cx="4123738" cy="1433323"/>
          </a:xfrm>
        </p:spPr>
        <p:txBody>
          <a:bodyPr>
            <a:normAutofit/>
          </a:bodyPr>
          <a:lstStyle/>
          <a:p>
            <a:pPr algn="l"/>
            <a:r>
              <a:rPr lang="en-CA" sz="3200">
                <a:solidFill>
                  <a:schemeClr val="tx2"/>
                </a:solidFill>
              </a:rPr>
              <a:t>Visualisation</a:t>
            </a:r>
          </a:p>
        </p:txBody>
      </p:sp>
      <p:sp>
        <p:nvSpPr>
          <p:cNvPr id="65" name="Rectangle 37">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2EDD2E"/>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a:extLst>
              <a:ext uri="{FF2B5EF4-FFF2-40B4-BE49-F238E27FC236}">
                <a16:creationId xmlns:a16="http://schemas.microsoft.com/office/drawing/2014/main" id="{35F9AE0E-A677-47B4-8F70-991049E7CAAE}"/>
              </a:ext>
            </a:extLst>
          </p:cNvPr>
          <p:cNvPicPr>
            <a:picLocks noChangeAspect="1"/>
          </p:cNvPicPr>
          <p:nvPr/>
        </p:nvPicPr>
        <p:blipFill rotWithShape="1">
          <a:blip r:embed="rId2">
            <a:extLst>
              <a:ext uri="{28A0092B-C50C-407E-A947-70E740481C1C}">
                <a14:useLocalDpi xmlns:a14="http://schemas.microsoft.com/office/drawing/2010/main" val="0"/>
              </a:ext>
            </a:extLst>
          </a:blip>
          <a:srcRect l="18677" r="16813" b="-1"/>
          <a:stretch/>
        </p:blipFill>
        <p:spPr>
          <a:xfrm>
            <a:off x="972115" y="960214"/>
            <a:ext cx="5641848" cy="4919472"/>
          </a:xfrm>
          <a:prstGeom prst="rect">
            <a:avLst/>
          </a:prstGeom>
          <a:ln w="12700">
            <a:noFill/>
          </a:ln>
        </p:spPr>
      </p:pic>
      <p:sp>
        <p:nvSpPr>
          <p:cNvPr id="66" name="Content Placeholder 9">
            <a:extLst>
              <a:ext uri="{FF2B5EF4-FFF2-40B4-BE49-F238E27FC236}">
                <a16:creationId xmlns:a16="http://schemas.microsoft.com/office/drawing/2014/main" id="{95EBCE48-0588-4C55-AC7C-564462DC2F10}"/>
              </a:ext>
            </a:extLst>
          </p:cNvPr>
          <p:cNvSpPr>
            <a:spLocks noGrp="1"/>
          </p:cNvSpPr>
          <p:nvPr>
            <p:ph idx="1"/>
          </p:nvPr>
        </p:nvSpPr>
        <p:spPr>
          <a:xfrm>
            <a:off x="7293817" y="2338388"/>
            <a:ext cx="4099607" cy="3678237"/>
          </a:xfrm>
        </p:spPr>
        <p:txBody>
          <a:bodyPr>
            <a:normAutofit/>
          </a:bodyPr>
          <a:lstStyle/>
          <a:p>
            <a:pPr>
              <a:buClr>
                <a:srgbClr val="2EDD2E"/>
              </a:buClr>
            </a:pPr>
            <a:r>
              <a:rPr lang="en-US" dirty="0"/>
              <a:t>Again, using the support points from the last slide, we can add the next point to the simplex.</a:t>
            </a:r>
          </a:p>
          <a:p>
            <a:pPr>
              <a:buClr>
                <a:srgbClr val="2EDD2E"/>
              </a:buClr>
            </a:pPr>
            <a:r>
              <a:rPr lang="en-US" dirty="0"/>
              <a:t>We now have a triangle simplex.</a:t>
            </a:r>
          </a:p>
          <a:p>
            <a:pPr>
              <a:buClr>
                <a:srgbClr val="2EDD2E"/>
              </a:buClr>
            </a:pPr>
            <a:r>
              <a:rPr lang="en-US" dirty="0"/>
              <a:t>We also have 2 new support points and a new direction to search.</a:t>
            </a:r>
          </a:p>
        </p:txBody>
      </p:sp>
    </p:spTree>
    <p:extLst>
      <p:ext uri="{BB962C8B-B14F-4D97-AF65-F5344CB8AC3E}">
        <p14:creationId xmlns:p14="http://schemas.microsoft.com/office/powerpoint/2010/main" val="104180159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6"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0E05FAC-CFB4-4A99-AE66-866DF28FCF96}"/>
              </a:ext>
            </a:extLst>
          </p:cNvPr>
          <p:cNvSpPr>
            <a:spLocks noGrp="1"/>
          </p:cNvSpPr>
          <p:nvPr>
            <p:ph type="title"/>
          </p:nvPr>
        </p:nvSpPr>
        <p:spPr>
          <a:xfrm>
            <a:off x="7269686" y="795527"/>
            <a:ext cx="4123738" cy="1433323"/>
          </a:xfrm>
        </p:spPr>
        <p:txBody>
          <a:bodyPr>
            <a:normAutofit/>
          </a:bodyPr>
          <a:lstStyle/>
          <a:p>
            <a:pPr algn="l"/>
            <a:r>
              <a:rPr lang="en-CA" sz="3200">
                <a:solidFill>
                  <a:schemeClr val="tx2"/>
                </a:solidFill>
              </a:rPr>
              <a:t>Visualisation</a:t>
            </a:r>
          </a:p>
        </p:txBody>
      </p:sp>
      <p:sp>
        <p:nvSpPr>
          <p:cNvPr id="38" name="Rectangle 37">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rgbClr val="25D32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4">
            <a:extLst>
              <a:ext uri="{FF2B5EF4-FFF2-40B4-BE49-F238E27FC236}">
                <a16:creationId xmlns:a16="http://schemas.microsoft.com/office/drawing/2014/main" id="{C7FBDEA6-CB42-4CC8-932F-E696C8EC1610}"/>
              </a:ext>
            </a:extLst>
          </p:cNvPr>
          <p:cNvPicPr>
            <a:picLocks noChangeAspect="1"/>
          </p:cNvPicPr>
          <p:nvPr/>
        </p:nvPicPr>
        <p:blipFill rotWithShape="1">
          <a:blip r:embed="rId2">
            <a:extLst>
              <a:ext uri="{28A0092B-C50C-407E-A947-70E740481C1C}">
                <a14:useLocalDpi xmlns:a14="http://schemas.microsoft.com/office/drawing/2010/main" val="0"/>
              </a:ext>
            </a:extLst>
          </a:blip>
          <a:srcRect l="23790" r="11699" b="-1"/>
          <a:stretch/>
        </p:blipFill>
        <p:spPr>
          <a:xfrm>
            <a:off x="972115" y="960214"/>
            <a:ext cx="5641848" cy="4919472"/>
          </a:xfrm>
          <a:prstGeom prst="rect">
            <a:avLst/>
          </a:prstGeom>
          <a:ln w="12700">
            <a:noFill/>
          </a:ln>
        </p:spPr>
      </p:pic>
      <p:sp>
        <p:nvSpPr>
          <p:cNvPr id="10" name="Content Placeholder 9">
            <a:extLst>
              <a:ext uri="{FF2B5EF4-FFF2-40B4-BE49-F238E27FC236}">
                <a16:creationId xmlns:a16="http://schemas.microsoft.com/office/drawing/2014/main" id="{9557FF5B-75E9-4847-8898-71A134AAEA4C}"/>
              </a:ext>
            </a:extLst>
          </p:cNvPr>
          <p:cNvSpPr>
            <a:spLocks noGrp="1"/>
          </p:cNvSpPr>
          <p:nvPr>
            <p:ph idx="1"/>
          </p:nvPr>
        </p:nvSpPr>
        <p:spPr>
          <a:xfrm>
            <a:off x="7293817" y="2338388"/>
            <a:ext cx="4099607" cy="3678237"/>
          </a:xfrm>
        </p:spPr>
        <p:txBody>
          <a:bodyPr>
            <a:normAutofit/>
          </a:bodyPr>
          <a:lstStyle/>
          <a:p>
            <a:pPr>
              <a:buClr>
                <a:srgbClr val="25D325"/>
              </a:buClr>
            </a:pPr>
            <a:r>
              <a:rPr lang="en-US" dirty="0"/>
              <a:t>From those support points we can again add it to the simplex.</a:t>
            </a:r>
          </a:p>
          <a:p>
            <a:pPr>
              <a:buClr>
                <a:srgbClr val="25D325"/>
              </a:buClr>
            </a:pPr>
            <a:r>
              <a:rPr lang="en-US" dirty="0"/>
              <a:t>We now have a tetrahedron simplex.</a:t>
            </a:r>
          </a:p>
          <a:p>
            <a:pPr>
              <a:buClr>
                <a:srgbClr val="25D325"/>
              </a:buClr>
            </a:pPr>
            <a:r>
              <a:rPr lang="en-US" dirty="0"/>
              <a:t>Next we can check for origin overlap.</a:t>
            </a:r>
          </a:p>
        </p:txBody>
      </p:sp>
    </p:spTree>
    <p:extLst>
      <p:ext uri="{BB962C8B-B14F-4D97-AF65-F5344CB8AC3E}">
        <p14:creationId xmlns:p14="http://schemas.microsoft.com/office/powerpoint/2010/main" val="231464871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42C12-7ECE-49CD-93D1-03F5CD0854C9}"/>
              </a:ext>
            </a:extLst>
          </p:cNvPr>
          <p:cNvSpPr>
            <a:spLocks noGrp="1"/>
          </p:cNvSpPr>
          <p:nvPr>
            <p:ph type="title"/>
          </p:nvPr>
        </p:nvSpPr>
        <p:spPr/>
        <p:txBody>
          <a:bodyPr/>
          <a:lstStyle/>
          <a:p>
            <a:r>
              <a:rPr lang="en-CA" dirty="0"/>
              <a:t>Building a Simplex</a:t>
            </a:r>
          </a:p>
        </p:txBody>
      </p:sp>
      <p:sp>
        <p:nvSpPr>
          <p:cNvPr id="4" name="Text Placeholder 3">
            <a:extLst>
              <a:ext uri="{FF2B5EF4-FFF2-40B4-BE49-F238E27FC236}">
                <a16:creationId xmlns:a16="http://schemas.microsoft.com/office/drawing/2014/main" id="{B805952E-7A55-4AD9-9AB0-A964E2DB3179}"/>
              </a:ext>
            </a:extLst>
          </p:cNvPr>
          <p:cNvSpPr>
            <a:spLocks noGrp="1"/>
          </p:cNvSpPr>
          <p:nvPr>
            <p:ph type="body" idx="1"/>
          </p:nvPr>
        </p:nvSpPr>
        <p:spPr/>
        <p:txBody>
          <a:bodyPr/>
          <a:lstStyle/>
          <a:p>
            <a:r>
              <a:rPr lang="en-CA" dirty="0"/>
              <a:t>From point to line to triangle to tetrahedron.</a:t>
            </a:r>
          </a:p>
        </p:txBody>
      </p:sp>
    </p:spTree>
    <p:extLst>
      <p:ext uri="{BB962C8B-B14F-4D97-AF65-F5344CB8AC3E}">
        <p14:creationId xmlns:p14="http://schemas.microsoft.com/office/powerpoint/2010/main" val="396554024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8"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9"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4" name="Rectangle 33">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6B8DDD-1663-444C-B9BD-41F7B7A6C221}"/>
              </a:ext>
            </a:extLst>
          </p:cNvPr>
          <p:cNvSpPr>
            <a:spLocks noGrp="1"/>
          </p:cNvSpPr>
          <p:nvPr>
            <p:ph type="title"/>
          </p:nvPr>
        </p:nvSpPr>
        <p:spPr>
          <a:xfrm>
            <a:off x="2880485" y="841375"/>
            <a:ext cx="6230857" cy="1230570"/>
          </a:xfrm>
        </p:spPr>
        <p:txBody>
          <a:bodyPr anchor="t">
            <a:normAutofit/>
          </a:bodyPr>
          <a:lstStyle/>
          <a:p>
            <a:pPr algn="l"/>
            <a:r>
              <a:rPr lang="en-CA" sz="3600">
                <a:solidFill>
                  <a:schemeClr val="accent1"/>
                </a:solidFill>
              </a:rPr>
              <a:t>Steps</a:t>
            </a:r>
          </a:p>
        </p:txBody>
      </p:sp>
      <p:sp>
        <p:nvSpPr>
          <p:cNvPr id="36" name="Isosceles Triangle 35">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4" name="Content Placeholder 3">
            <a:extLst>
              <a:ext uri="{FF2B5EF4-FFF2-40B4-BE49-F238E27FC236}">
                <a16:creationId xmlns:a16="http://schemas.microsoft.com/office/drawing/2014/main" id="{FD1C7AA4-2BA3-41EF-BABC-99A52BA4390D}"/>
              </a:ext>
            </a:extLst>
          </p:cNvPr>
          <p:cNvSpPr>
            <a:spLocks noGrp="1"/>
          </p:cNvSpPr>
          <p:nvPr>
            <p:ph idx="1"/>
          </p:nvPr>
        </p:nvSpPr>
        <p:spPr>
          <a:xfrm>
            <a:off x="2880487" y="2249046"/>
            <a:ext cx="6123783" cy="3802762"/>
          </a:xfrm>
        </p:spPr>
        <p:txBody>
          <a:bodyPr anchor="t">
            <a:normAutofit/>
          </a:bodyPr>
          <a:lstStyle/>
          <a:p>
            <a:pPr marL="342900" indent="-342900">
              <a:buFont typeface="+mj-lt"/>
              <a:buAutoNum type="arabicPeriod"/>
            </a:pPr>
            <a:r>
              <a:rPr lang="en-CA" sz="1600"/>
              <a:t>Decide on a direction.</a:t>
            </a:r>
          </a:p>
          <a:p>
            <a:pPr marL="342900" indent="-342900">
              <a:buFont typeface="+mj-lt"/>
              <a:buAutoNum type="arabicPeriod"/>
            </a:pPr>
            <a:r>
              <a:rPr lang="en-CA" sz="1600"/>
              <a:t>Find a support point.</a:t>
            </a:r>
          </a:p>
          <a:p>
            <a:pPr marL="342900" indent="-342900">
              <a:buFont typeface="+mj-lt"/>
              <a:buAutoNum type="arabicPeriod"/>
            </a:pPr>
            <a:r>
              <a:rPr lang="en-CA" sz="1600"/>
              <a:t>Add it to the simplex.</a:t>
            </a:r>
          </a:p>
          <a:p>
            <a:pPr marL="342900" indent="-342900">
              <a:buFont typeface="+mj-lt"/>
              <a:buAutoNum type="arabicPeriod"/>
            </a:pPr>
            <a:r>
              <a:rPr lang="en-CA" sz="1600"/>
              <a:t>Iterate:</a:t>
            </a:r>
          </a:p>
          <a:p>
            <a:pPr marL="800100" lvl="1" indent="-342900">
              <a:buFont typeface="+mj-lt"/>
              <a:buAutoNum type="arabicPeriod"/>
            </a:pPr>
            <a:r>
              <a:rPr lang="en-CA" dirty="0"/>
              <a:t>Find a support point.</a:t>
            </a:r>
          </a:p>
          <a:p>
            <a:pPr marL="800100" lvl="1" indent="-342900">
              <a:buFont typeface="+mj-lt"/>
              <a:buAutoNum type="arabicPeriod"/>
            </a:pPr>
            <a:r>
              <a:rPr lang="en-CA" dirty="0"/>
              <a:t>Add it to the simplex.</a:t>
            </a:r>
          </a:p>
          <a:p>
            <a:pPr marL="800100" lvl="1" indent="-342900">
              <a:buFont typeface="+mj-lt"/>
              <a:buAutoNum type="arabicPeriod"/>
            </a:pPr>
            <a:r>
              <a:rPr lang="en-CA" dirty="0"/>
              <a:t>Process the simplex.</a:t>
            </a:r>
          </a:p>
        </p:txBody>
      </p:sp>
    </p:spTree>
    <p:extLst>
      <p:ext uri="{BB962C8B-B14F-4D97-AF65-F5344CB8AC3E}">
        <p14:creationId xmlns:p14="http://schemas.microsoft.com/office/powerpoint/2010/main" val="688086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1DEEF-37C0-4281-848D-31D55398C137}"/>
              </a:ext>
            </a:extLst>
          </p:cNvPr>
          <p:cNvSpPr>
            <a:spLocks noGrp="1"/>
          </p:cNvSpPr>
          <p:nvPr>
            <p:ph type="title"/>
          </p:nvPr>
        </p:nvSpPr>
        <p:spPr>
          <a:xfrm>
            <a:off x="645459" y="960120"/>
            <a:ext cx="3865695" cy="4171278"/>
          </a:xfrm>
        </p:spPr>
        <p:txBody>
          <a:bodyPr>
            <a:normAutofit/>
          </a:bodyPr>
          <a:lstStyle/>
          <a:p>
            <a:pPr algn="r"/>
            <a:r>
              <a:rPr lang="en-CA" sz="4400">
                <a:solidFill>
                  <a:schemeClr val="tx1"/>
                </a:solidFill>
              </a:rPr>
              <a:t>Step 1</a:t>
            </a:r>
            <a:br>
              <a:rPr lang="en-CA" sz="4400">
                <a:solidFill>
                  <a:schemeClr val="tx1"/>
                </a:solidFill>
              </a:rPr>
            </a:br>
            <a:r>
              <a:rPr lang="en-CA" sz="4400">
                <a:solidFill>
                  <a:schemeClr val="tx1"/>
                </a:solidFill>
              </a:rPr>
              <a:t>Pick a direction</a:t>
            </a: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78D304-AA45-468C-9D7A-00F526EB13CE}"/>
              </a:ext>
            </a:extLst>
          </p:cNvPr>
          <p:cNvSpPr>
            <a:spLocks noGrp="1"/>
          </p:cNvSpPr>
          <p:nvPr>
            <p:ph idx="1"/>
          </p:nvPr>
        </p:nvSpPr>
        <p:spPr>
          <a:xfrm>
            <a:off x="4983164" y="960120"/>
            <a:ext cx="5511800" cy="4171278"/>
          </a:xfrm>
        </p:spPr>
        <p:txBody>
          <a:bodyPr>
            <a:normAutofit/>
          </a:bodyPr>
          <a:lstStyle/>
          <a:p>
            <a:r>
              <a:rPr lang="en-CA" dirty="0"/>
              <a:t>Pick a starting search direction, this can have quite an effect on how many iterations are necessary to find an origin overlap.</a:t>
            </a:r>
          </a:p>
        </p:txBody>
      </p:sp>
    </p:spTree>
    <p:extLst>
      <p:ext uri="{BB962C8B-B14F-4D97-AF65-F5344CB8AC3E}">
        <p14:creationId xmlns:p14="http://schemas.microsoft.com/office/powerpoint/2010/main" val="349226918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1DEEF-37C0-4281-848D-31D55398C137}"/>
              </a:ext>
            </a:extLst>
          </p:cNvPr>
          <p:cNvSpPr>
            <a:spLocks noGrp="1"/>
          </p:cNvSpPr>
          <p:nvPr>
            <p:ph type="title"/>
          </p:nvPr>
        </p:nvSpPr>
        <p:spPr>
          <a:xfrm>
            <a:off x="645459" y="960120"/>
            <a:ext cx="3865695" cy="4171278"/>
          </a:xfrm>
        </p:spPr>
        <p:txBody>
          <a:bodyPr>
            <a:normAutofit/>
          </a:bodyPr>
          <a:lstStyle/>
          <a:p>
            <a:pPr algn="r"/>
            <a:r>
              <a:rPr lang="en-CA" sz="4400" dirty="0">
                <a:solidFill>
                  <a:schemeClr val="tx1"/>
                </a:solidFill>
              </a:rPr>
              <a:t>Step 2</a:t>
            </a:r>
            <a:br>
              <a:rPr lang="en-CA" sz="4400" dirty="0">
                <a:solidFill>
                  <a:schemeClr val="tx1"/>
                </a:solidFill>
              </a:rPr>
            </a:br>
            <a:r>
              <a:rPr lang="en-CA" sz="4400" dirty="0">
                <a:solidFill>
                  <a:schemeClr val="tx1"/>
                </a:solidFill>
              </a:rPr>
              <a:t>Find a Support Point</a:t>
            </a: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78D304-AA45-468C-9D7A-00F526EB13CE}"/>
              </a:ext>
            </a:extLst>
          </p:cNvPr>
          <p:cNvSpPr>
            <a:spLocks noGrp="1"/>
          </p:cNvSpPr>
          <p:nvPr>
            <p:ph idx="1"/>
          </p:nvPr>
        </p:nvSpPr>
        <p:spPr>
          <a:xfrm>
            <a:off x="4983164" y="960120"/>
            <a:ext cx="5511800" cy="4171278"/>
          </a:xfrm>
        </p:spPr>
        <p:txBody>
          <a:bodyPr>
            <a:normAutofit/>
          </a:bodyPr>
          <a:lstStyle/>
          <a:p>
            <a:r>
              <a:rPr lang="en-CA" dirty="0"/>
              <a:t>Using A+-B and our support function for meshes, generate our first support point on the </a:t>
            </a:r>
            <a:r>
              <a:rPr lang="en-CA" dirty="0" err="1"/>
              <a:t>Minkowski</a:t>
            </a:r>
            <a:r>
              <a:rPr lang="en-CA" dirty="0"/>
              <a:t> Sum.</a:t>
            </a:r>
          </a:p>
        </p:txBody>
      </p:sp>
    </p:spTree>
    <p:extLst>
      <p:ext uri="{BB962C8B-B14F-4D97-AF65-F5344CB8AC3E}">
        <p14:creationId xmlns:p14="http://schemas.microsoft.com/office/powerpoint/2010/main" val="4148657754"/>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1DEEF-37C0-4281-848D-31D55398C137}"/>
              </a:ext>
            </a:extLst>
          </p:cNvPr>
          <p:cNvSpPr>
            <a:spLocks noGrp="1"/>
          </p:cNvSpPr>
          <p:nvPr>
            <p:ph type="title"/>
          </p:nvPr>
        </p:nvSpPr>
        <p:spPr>
          <a:xfrm>
            <a:off x="645459" y="960120"/>
            <a:ext cx="3865695" cy="4171278"/>
          </a:xfrm>
        </p:spPr>
        <p:txBody>
          <a:bodyPr>
            <a:normAutofit/>
          </a:bodyPr>
          <a:lstStyle/>
          <a:p>
            <a:pPr algn="r"/>
            <a:r>
              <a:rPr lang="en-CA" sz="4400" dirty="0">
                <a:solidFill>
                  <a:schemeClr val="tx1"/>
                </a:solidFill>
              </a:rPr>
              <a:t>Step 3</a:t>
            </a:r>
            <a:br>
              <a:rPr lang="en-CA" sz="4400" dirty="0">
                <a:solidFill>
                  <a:schemeClr val="tx1"/>
                </a:solidFill>
              </a:rPr>
            </a:br>
            <a:r>
              <a:rPr lang="en-CA" sz="4400" dirty="0">
                <a:solidFill>
                  <a:schemeClr val="tx1"/>
                </a:solidFill>
              </a:rPr>
              <a:t>Generate the Simplex</a:t>
            </a: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78D304-AA45-468C-9D7A-00F526EB13CE}"/>
              </a:ext>
            </a:extLst>
          </p:cNvPr>
          <p:cNvSpPr>
            <a:spLocks noGrp="1"/>
          </p:cNvSpPr>
          <p:nvPr>
            <p:ph idx="1"/>
          </p:nvPr>
        </p:nvSpPr>
        <p:spPr>
          <a:xfrm>
            <a:off x="4983164" y="960120"/>
            <a:ext cx="5511800" cy="4171278"/>
          </a:xfrm>
        </p:spPr>
        <p:txBody>
          <a:bodyPr>
            <a:normAutofit/>
          </a:bodyPr>
          <a:lstStyle/>
          <a:p>
            <a:r>
              <a:rPr lang="en-CA" dirty="0"/>
              <a:t>Add the first support point the simplex.</a:t>
            </a:r>
          </a:p>
          <a:p>
            <a:r>
              <a:rPr lang="en-CA" dirty="0"/>
              <a:t>We now have a point simplex.</a:t>
            </a:r>
          </a:p>
        </p:txBody>
      </p:sp>
    </p:spTree>
    <p:extLst>
      <p:ext uri="{BB962C8B-B14F-4D97-AF65-F5344CB8AC3E}">
        <p14:creationId xmlns:p14="http://schemas.microsoft.com/office/powerpoint/2010/main" val="276288856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1DEEF-37C0-4281-848D-31D55398C137}"/>
              </a:ext>
            </a:extLst>
          </p:cNvPr>
          <p:cNvSpPr>
            <a:spLocks noGrp="1"/>
          </p:cNvSpPr>
          <p:nvPr>
            <p:ph type="title"/>
          </p:nvPr>
        </p:nvSpPr>
        <p:spPr>
          <a:xfrm>
            <a:off x="645459" y="960120"/>
            <a:ext cx="3865695" cy="4171278"/>
          </a:xfrm>
        </p:spPr>
        <p:txBody>
          <a:bodyPr>
            <a:normAutofit/>
          </a:bodyPr>
          <a:lstStyle/>
          <a:p>
            <a:pPr algn="r"/>
            <a:r>
              <a:rPr lang="en-CA" sz="4400" dirty="0">
                <a:solidFill>
                  <a:schemeClr val="tx1"/>
                </a:solidFill>
              </a:rPr>
              <a:t>Step 4.1</a:t>
            </a:r>
            <a:br>
              <a:rPr lang="en-CA" sz="4400" dirty="0">
                <a:solidFill>
                  <a:schemeClr val="tx1"/>
                </a:solidFill>
              </a:rPr>
            </a:br>
            <a:r>
              <a:rPr lang="en-CA" sz="4400" dirty="0">
                <a:solidFill>
                  <a:schemeClr val="tx1"/>
                </a:solidFill>
              </a:rPr>
              <a:t>Find a Support Point</a:t>
            </a: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78D304-AA45-468C-9D7A-00F526EB13CE}"/>
              </a:ext>
            </a:extLst>
          </p:cNvPr>
          <p:cNvSpPr>
            <a:spLocks noGrp="1"/>
          </p:cNvSpPr>
          <p:nvPr>
            <p:ph idx="1"/>
          </p:nvPr>
        </p:nvSpPr>
        <p:spPr>
          <a:xfrm>
            <a:off x="4983164" y="960120"/>
            <a:ext cx="5511800" cy="4171278"/>
          </a:xfrm>
        </p:spPr>
        <p:txBody>
          <a:bodyPr>
            <a:normAutofit/>
          </a:bodyPr>
          <a:lstStyle/>
          <a:p>
            <a:r>
              <a:rPr lang="en-CA" dirty="0"/>
              <a:t>Now that we are inside the loop, the process becomes adding the next support point given the direction last determined.</a:t>
            </a:r>
          </a:p>
        </p:txBody>
      </p:sp>
    </p:spTree>
    <p:extLst>
      <p:ext uri="{BB962C8B-B14F-4D97-AF65-F5344CB8AC3E}">
        <p14:creationId xmlns:p14="http://schemas.microsoft.com/office/powerpoint/2010/main" val="2944685685"/>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81DEEF-37C0-4281-848D-31D55398C137}"/>
              </a:ext>
            </a:extLst>
          </p:cNvPr>
          <p:cNvSpPr>
            <a:spLocks noGrp="1"/>
          </p:cNvSpPr>
          <p:nvPr>
            <p:ph type="title"/>
          </p:nvPr>
        </p:nvSpPr>
        <p:spPr>
          <a:xfrm>
            <a:off x="645459" y="960120"/>
            <a:ext cx="3865695" cy="4171278"/>
          </a:xfrm>
        </p:spPr>
        <p:txBody>
          <a:bodyPr>
            <a:normAutofit/>
          </a:bodyPr>
          <a:lstStyle/>
          <a:p>
            <a:pPr algn="r"/>
            <a:r>
              <a:rPr lang="en-CA" sz="4400" dirty="0">
                <a:solidFill>
                  <a:schemeClr val="tx1"/>
                </a:solidFill>
              </a:rPr>
              <a:t>Step 4.2</a:t>
            </a:r>
            <a:br>
              <a:rPr lang="en-CA" sz="4400" dirty="0">
                <a:solidFill>
                  <a:schemeClr val="tx1"/>
                </a:solidFill>
              </a:rPr>
            </a:br>
            <a:r>
              <a:rPr lang="en-CA" sz="4400" dirty="0">
                <a:solidFill>
                  <a:schemeClr val="tx1"/>
                </a:solidFill>
              </a:rPr>
              <a:t>Add it to the Simplex</a:t>
            </a: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78D304-AA45-468C-9D7A-00F526EB13CE}"/>
              </a:ext>
            </a:extLst>
          </p:cNvPr>
          <p:cNvSpPr>
            <a:spLocks noGrp="1"/>
          </p:cNvSpPr>
          <p:nvPr>
            <p:ph idx="1"/>
          </p:nvPr>
        </p:nvSpPr>
        <p:spPr>
          <a:xfrm>
            <a:off x="4983164" y="960120"/>
            <a:ext cx="5511800" cy="4171278"/>
          </a:xfrm>
        </p:spPr>
        <p:txBody>
          <a:bodyPr>
            <a:normAutofit/>
          </a:bodyPr>
          <a:lstStyle/>
          <a:p>
            <a:r>
              <a:rPr lang="en-CA" dirty="0"/>
              <a:t>Given the direction determined either last iteration, or at start up, add the support point from the </a:t>
            </a:r>
            <a:r>
              <a:rPr lang="en-CA" dirty="0" err="1"/>
              <a:t>Minkowski</a:t>
            </a:r>
            <a:r>
              <a:rPr lang="en-CA" dirty="0"/>
              <a:t> Sum to the Simplex.</a:t>
            </a:r>
          </a:p>
          <a:p>
            <a:r>
              <a:rPr lang="en-CA" dirty="0"/>
              <a:t>At the first iteration, we now have a line simplex.</a:t>
            </a:r>
          </a:p>
        </p:txBody>
      </p:sp>
    </p:spTree>
    <p:extLst>
      <p:ext uri="{BB962C8B-B14F-4D97-AF65-F5344CB8AC3E}">
        <p14:creationId xmlns:p14="http://schemas.microsoft.com/office/powerpoint/2010/main" val="2851752437"/>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0"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6"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67"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8"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9"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1"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2"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3"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4"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6"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7" name="Group 29">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78" name="Rectangle 30">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31">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5" name="Rectangle 34">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38"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accent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accent1">
                  <a:alpha val="18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40"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accent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1"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accent1">
                  <a:alpha val="11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accent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accent1">
                  <a:alpha val="7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accent1">
                  <a:alpha val="8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7"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accent1">
                  <a:alpha val="6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8"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9"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accent1">
                  <a:alpha val="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0"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accent1">
                  <a:alpha val="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accent1">
                  <a:alpha val="4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accent1">
                  <a:alpha val="4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6"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accent1">
                  <a:alpha val="3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4881DEEF-37C0-4281-848D-31D55398C137}"/>
              </a:ext>
            </a:extLst>
          </p:cNvPr>
          <p:cNvSpPr>
            <a:spLocks noGrp="1"/>
          </p:cNvSpPr>
          <p:nvPr>
            <p:ph type="title"/>
          </p:nvPr>
        </p:nvSpPr>
        <p:spPr>
          <a:xfrm>
            <a:off x="2037374" y="1263404"/>
            <a:ext cx="8247189" cy="3115075"/>
          </a:xfrm>
        </p:spPr>
        <p:txBody>
          <a:bodyPr vert="horz" lIns="228600" tIns="228600" rIns="228600" bIns="0" rtlCol="0" anchor="b">
            <a:normAutofit/>
          </a:bodyPr>
          <a:lstStyle/>
          <a:p>
            <a:pPr algn="l">
              <a:lnSpc>
                <a:spcPct val="80000"/>
              </a:lnSpc>
            </a:pPr>
            <a:r>
              <a:rPr lang="en-US" sz="7200">
                <a:solidFill>
                  <a:schemeClr val="accent1"/>
                </a:solidFill>
              </a:rPr>
              <a:t>Step 4.3</a:t>
            </a:r>
            <a:br>
              <a:rPr lang="en-US" sz="7200">
                <a:solidFill>
                  <a:schemeClr val="accent1"/>
                </a:solidFill>
              </a:rPr>
            </a:br>
            <a:r>
              <a:rPr lang="en-US" sz="7200">
                <a:solidFill>
                  <a:schemeClr val="accent1"/>
                </a:solidFill>
              </a:rPr>
              <a:t>Process the Simplex</a:t>
            </a:r>
          </a:p>
        </p:txBody>
      </p:sp>
      <p:sp>
        <p:nvSpPr>
          <p:cNvPr id="4" name="Text Placeholder 3">
            <a:extLst>
              <a:ext uri="{FF2B5EF4-FFF2-40B4-BE49-F238E27FC236}">
                <a16:creationId xmlns:a16="http://schemas.microsoft.com/office/drawing/2014/main" id="{699B3AAC-A147-4514-83B9-877EFFDC20D2}"/>
              </a:ext>
            </a:extLst>
          </p:cNvPr>
          <p:cNvSpPr>
            <a:spLocks noGrp="1"/>
          </p:cNvSpPr>
          <p:nvPr>
            <p:ph type="body" idx="1"/>
          </p:nvPr>
        </p:nvSpPr>
        <p:spPr>
          <a:xfrm>
            <a:off x="2037374" y="4560432"/>
            <a:ext cx="8300202" cy="1228171"/>
          </a:xfrm>
        </p:spPr>
        <p:txBody>
          <a:bodyPr vert="horz" lIns="91440" tIns="0" rIns="91440" bIns="45720" rtlCol="0">
            <a:normAutofit/>
          </a:bodyPr>
          <a:lstStyle/>
          <a:p>
            <a:pPr algn="l">
              <a:lnSpc>
                <a:spcPct val="100000"/>
              </a:lnSpc>
            </a:pPr>
            <a:endParaRPr lang="en-US" sz="2400" dirty="0">
              <a:solidFill>
                <a:schemeClr val="tx1"/>
              </a:solidFill>
            </a:endParaRPr>
          </a:p>
        </p:txBody>
      </p:sp>
      <p:sp>
        <p:nvSpPr>
          <p:cNvPr id="58" name="Isosceles Triangle 57">
            <a:extLst>
              <a:ext uri="{FF2B5EF4-FFF2-40B4-BE49-F238E27FC236}">
                <a16:creationId xmlns:a16="http://schemas.microsoft.com/office/drawing/2014/main" id="{3F39476B-1A6D-47CB-AC7A-FB87EF003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90253" y="3276595"/>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382947537"/>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4"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9"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0"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5" name="Rectangle 34">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EA3A80D-EDCC-4EB5-A5E0-5693DEABC636}"/>
              </a:ext>
            </a:extLst>
          </p:cNvPr>
          <p:cNvSpPr>
            <a:spLocks noGrp="1"/>
          </p:cNvSpPr>
          <p:nvPr>
            <p:ph type="title"/>
          </p:nvPr>
        </p:nvSpPr>
        <p:spPr>
          <a:xfrm>
            <a:off x="645459" y="960120"/>
            <a:ext cx="3865695" cy="4171278"/>
          </a:xfrm>
        </p:spPr>
        <p:txBody>
          <a:bodyPr>
            <a:normAutofit/>
          </a:bodyPr>
          <a:lstStyle/>
          <a:p>
            <a:pPr algn="r"/>
            <a:r>
              <a:rPr lang="en-CA" sz="4400">
                <a:solidFill>
                  <a:schemeClr val="tx1"/>
                </a:solidFill>
              </a:rPr>
              <a:t>Process the Simplex</a:t>
            </a:r>
          </a:p>
        </p:txBody>
      </p:sp>
      <p:cxnSp>
        <p:nvCxnSpPr>
          <p:cNvPr id="37" name="Straight Connector 36">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17874F9C-F75F-48C4-8433-1ECDC5888949}"/>
              </a:ext>
            </a:extLst>
          </p:cNvPr>
          <p:cNvSpPr>
            <a:spLocks noGrp="1"/>
          </p:cNvSpPr>
          <p:nvPr>
            <p:ph idx="1"/>
          </p:nvPr>
        </p:nvSpPr>
        <p:spPr>
          <a:xfrm>
            <a:off x="4983164" y="960120"/>
            <a:ext cx="5511800" cy="4171278"/>
          </a:xfrm>
        </p:spPr>
        <p:txBody>
          <a:bodyPr>
            <a:normAutofit/>
          </a:bodyPr>
          <a:lstStyle/>
          <a:p>
            <a:r>
              <a:rPr lang="en-CA" dirty="0"/>
              <a:t>This can go 1 of 3 ways:</a:t>
            </a:r>
          </a:p>
          <a:p>
            <a:pPr lvl="1"/>
            <a:r>
              <a:rPr lang="en-CA" dirty="0"/>
              <a:t>Process a line.</a:t>
            </a:r>
          </a:p>
          <a:p>
            <a:pPr lvl="1"/>
            <a:r>
              <a:rPr lang="en-CA" dirty="0"/>
              <a:t>Process a triangle.</a:t>
            </a:r>
          </a:p>
          <a:p>
            <a:pPr lvl="1"/>
            <a:r>
              <a:rPr lang="en-CA" dirty="0"/>
              <a:t>Process a tetrahedron.</a:t>
            </a:r>
          </a:p>
        </p:txBody>
      </p:sp>
    </p:spTree>
    <p:extLst>
      <p:ext uri="{BB962C8B-B14F-4D97-AF65-F5344CB8AC3E}">
        <p14:creationId xmlns:p14="http://schemas.microsoft.com/office/powerpoint/2010/main" val="2600486029"/>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360D-5378-49B4-B14A-BC2C48389770}"/>
              </a:ext>
            </a:extLst>
          </p:cNvPr>
          <p:cNvSpPr>
            <a:spLocks noGrp="1"/>
          </p:cNvSpPr>
          <p:nvPr>
            <p:ph type="title"/>
          </p:nvPr>
        </p:nvSpPr>
        <p:spPr/>
        <p:txBody>
          <a:bodyPr/>
          <a:lstStyle/>
          <a:p>
            <a:r>
              <a:rPr lang="en-CA" dirty="0"/>
              <a:t>Process a Line</a:t>
            </a:r>
          </a:p>
        </p:txBody>
      </p:sp>
      <p:sp>
        <p:nvSpPr>
          <p:cNvPr id="3" name="Content Placeholder 2">
            <a:extLst>
              <a:ext uri="{FF2B5EF4-FFF2-40B4-BE49-F238E27FC236}">
                <a16:creationId xmlns:a16="http://schemas.microsoft.com/office/drawing/2014/main" id="{F2F45811-4F71-46F3-9ADF-43768E2E4DCA}"/>
              </a:ext>
            </a:extLst>
          </p:cNvPr>
          <p:cNvSpPr>
            <a:spLocks noGrp="1"/>
          </p:cNvSpPr>
          <p:nvPr>
            <p:ph idx="1"/>
          </p:nvPr>
        </p:nvSpPr>
        <p:spPr/>
        <p:txBody>
          <a:bodyPr/>
          <a:lstStyle/>
          <a:p>
            <a:r>
              <a:rPr lang="en-CA" dirty="0"/>
              <a:t>If we have a line, all we need to do is determine what direction to search for the next point, in order to make a triangle.</a:t>
            </a:r>
          </a:p>
        </p:txBody>
      </p:sp>
    </p:spTree>
    <p:extLst>
      <p:ext uri="{BB962C8B-B14F-4D97-AF65-F5344CB8AC3E}">
        <p14:creationId xmlns:p14="http://schemas.microsoft.com/office/powerpoint/2010/main" val="2803414740"/>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360D-5378-49B4-B14A-BC2C48389770}"/>
              </a:ext>
            </a:extLst>
          </p:cNvPr>
          <p:cNvSpPr>
            <a:spLocks noGrp="1"/>
          </p:cNvSpPr>
          <p:nvPr>
            <p:ph type="title"/>
          </p:nvPr>
        </p:nvSpPr>
        <p:spPr/>
        <p:txBody>
          <a:bodyPr/>
          <a:lstStyle/>
          <a:p>
            <a:r>
              <a:rPr lang="en-CA" dirty="0"/>
              <a:t>Process a Line</a:t>
            </a:r>
          </a:p>
        </p:txBody>
      </p:sp>
      <p:sp>
        <p:nvSpPr>
          <p:cNvPr id="8" name="Content Placeholder 7">
            <a:extLst>
              <a:ext uri="{FF2B5EF4-FFF2-40B4-BE49-F238E27FC236}">
                <a16:creationId xmlns:a16="http://schemas.microsoft.com/office/drawing/2014/main" id="{30FD0794-78ED-44B5-A492-7F8DA3A26B40}"/>
              </a:ext>
            </a:extLst>
          </p:cNvPr>
          <p:cNvSpPr>
            <a:spLocks noGrp="1"/>
          </p:cNvSpPr>
          <p:nvPr>
            <p:ph sz="half" idx="1"/>
          </p:nvPr>
        </p:nvSpPr>
        <p:spPr/>
        <p:txBody>
          <a:bodyPr/>
          <a:lstStyle/>
          <a:p>
            <a:pPr marL="0" indent="0">
              <a:buNone/>
            </a:pPr>
            <a:endParaRPr lang="en-CA" dirty="0"/>
          </a:p>
        </p:txBody>
      </p:sp>
      <p:sp>
        <p:nvSpPr>
          <p:cNvPr id="9" name="Content Placeholder 8">
            <a:extLst>
              <a:ext uri="{FF2B5EF4-FFF2-40B4-BE49-F238E27FC236}">
                <a16:creationId xmlns:a16="http://schemas.microsoft.com/office/drawing/2014/main" id="{C7EC1E0F-0EC2-4DA7-B674-6CEEA19C1211}"/>
              </a:ext>
            </a:extLst>
          </p:cNvPr>
          <p:cNvSpPr>
            <a:spLocks noGrp="1"/>
          </p:cNvSpPr>
          <p:nvPr>
            <p:ph sz="half" idx="2"/>
          </p:nvPr>
        </p:nvSpPr>
        <p:spPr/>
        <p:txBody>
          <a:bodyPr/>
          <a:lstStyle/>
          <a:p>
            <a:r>
              <a:rPr lang="en-CA" dirty="0"/>
              <a:t>If A is the newest point we added</a:t>
            </a:r>
          </a:p>
          <a:p>
            <a:r>
              <a:rPr lang="en-CA" dirty="0"/>
              <a:t>B is the other point.</a:t>
            </a:r>
          </a:p>
          <a:p>
            <a:r>
              <a:rPr lang="en-CA" dirty="0"/>
              <a:t>O is the origin.</a:t>
            </a:r>
          </a:p>
          <a:p>
            <a:r>
              <a:rPr lang="en-CA" dirty="0"/>
              <a:t>We are looking for the direction perpendicular to AB in the direction of the origin.</a:t>
            </a:r>
          </a:p>
        </p:txBody>
      </p:sp>
      <p:cxnSp>
        <p:nvCxnSpPr>
          <p:cNvPr id="11" name="Straight Connector 10">
            <a:extLst>
              <a:ext uri="{FF2B5EF4-FFF2-40B4-BE49-F238E27FC236}">
                <a16:creationId xmlns:a16="http://schemas.microsoft.com/office/drawing/2014/main" id="{C73FA5B1-4A39-4987-8C6B-6F56A172B8B0}"/>
              </a:ext>
            </a:extLst>
          </p:cNvPr>
          <p:cNvCxnSpPr/>
          <p:nvPr/>
        </p:nvCxnSpPr>
        <p:spPr>
          <a:xfrm>
            <a:off x="6485816" y="1339223"/>
            <a:ext cx="3537284" cy="1393185"/>
          </a:xfrm>
          <a:prstGeom prst="line">
            <a:avLst/>
          </a:prstGeom>
        </p:spPr>
        <p:style>
          <a:lnRef idx="1">
            <a:schemeClr val="dk1"/>
          </a:lnRef>
          <a:fillRef idx="0">
            <a:schemeClr val="dk1"/>
          </a:fillRef>
          <a:effectRef idx="0">
            <a:schemeClr val="dk1"/>
          </a:effectRef>
          <a:fontRef idx="minor">
            <a:schemeClr val="tx1"/>
          </a:fontRef>
        </p:style>
      </p:cxnSp>
      <p:sp>
        <p:nvSpPr>
          <p:cNvPr id="12" name="Oval 11">
            <a:extLst>
              <a:ext uri="{FF2B5EF4-FFF2-40B4-BE49-F238E27FC236}">
                <a16:creationId xmlns:a16="http://schemas.microsoft.com/office/drawing/2014/main" id="{6306CE64-E265-4BA1-9B71-9A426867ADC9}"/>
              </a:ext>
            </a:extLst>
          </p:cNvPr>
          <p:cNvSpPr/>
          <p:nvPr/>
        </p:nvSpPr>
        <p:spPr>
          <a:xfrm>
            <a:off x="6373814" y="1227221"/>
            <a:ext cx="224004" cy="2240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sp>
        <p:nvSpPr>
          <p:cNvPr id="13" name="Oval 12">
            <a:extLst>
              <a:ext uri="{FF2B5EF4-FFF2-40B4-BE49-F238E27FC236}">
                <a16:creationId xmlns:a16="http://schemas.microsoft.com/office/drawing/2014/main" id="{1A9B0F9A-A742-43CB-8A3E-9FA188D60387}"/>
              </a:ext>
            </a:extLst>
          </p:cNvPr>
          <p:cNvSpPr/>
          <p:nvPr/>
        </p:nvSpPr>
        <p:spPr>
          <a:xfrm>
            <a:off x="9906000" y="2615308"/>
            <a:ext cx="234200" cy="234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B</a:t>
            </a:r>
          </a:p>
        </p:txBody>
      </p:sp>
      <p:sp>
        <p:nvSpPr>
          <p:cNvPr id="16" name="Oval 15">
            <a:extLst>
              <a:ext uri="{FF2B5EF4-FFF2-40B4-BE49-F238E27FC236}">
                <a16:creationId xmlns:a16="http://schemas.microsoft.com/office/drawing/2014/main" id="{1EF0B565-D497-47F0-BA16-D6E548D89A44}"/>
              </a:ext>
            </a:extLst>
          </p:cNvPr>
          <p:cNvSpPr/>
          <p:nvPr/>
        </p:nvSpPr>
        <p:spPr>
          <a:xfrm>
            <a:off x="5640834" y="2849508"/>
            <a:ext cx="252606" cy="25260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O</a:t>
            </a:r>
          </a:p>
        </p:txBody>
      </p:sp>
      <p:cxnSp>
        <p:nvCxnSpPr>
          <p:cNvPr id="18" name="Straight Arrow Connector 17">
            <a:extLst>
              <a:ext uri="{FF2B5EF4-FFF2-40B4-BE49-F238E27FC236}">
                <a16:creationId xmlns:a16="http://schemas.microsoft.com/office/drawing/2014/main" id="{033A0ECF-814D-45AF-BD4C-6AB45CF4C226}"/>
              </a:ext>
            </a:extLst>
          </p:cNvPr>
          <p:cNvCxnSpPr/>
          <p:nvPr/>
        </p:nvCxnSpPr>
        <p:spPr>
          <a:xfrm flipH="1">
            <a:off x="7698038" y="1980794"/>
            <a:ext cx="403363" cy="954506"/>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87809128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376F-35EB-43C3-B448-E4EEC2644DFE}"/>
              </a:ext>
            </a:extLst>
          </p:cNvPr>
          <p:cNvSpPr>
            <a:spLocks noGrp="1"/>
          </p:cNvSpPr>
          <p:nvPr>
            <p:ph type="title"/>
          </p:nvPr>
        </p:nvSpPr>
        <p:spPr/>
        <p:txBody>
          <a:bodyPr/>
          <a:lstStyle/>
          <a:p>
            <a:r>
              <a:rPr lang="en-CA" dirty="0"/>
              <a:t>Process a Triangle</a:t>
            </a:r>
          </a:p>
        </p:txBody>
      </p:sp>
      <p:sp>
        <p:nvSpPr>
          <p:cNvPr id="3" name="Content Placeholder 2">
            <a:extLst>
              <a:ext uri="{FF2B5EF4-FFF2-40B4-BE49-F238E27FC236}">
                <a16:creationId xmlns:a16="http://schemas.microsoft.com/office/drawing/2014/main" id="{4E9049F1-D8DF-4261-B584-2D3360DF3961}"/>
              </a:ext>
            </a:extLst>
          </p:cNvPr>
          <p:cNvSpPr>
            <a:spLocks noGrp="1"/>
          </p:cNvSpPr>
          <p:nvPr>
            <p:ph sz="half" idx="1"/>
          </p:nvPr>
        </p:nvSpPr>
        <p:spPr/>
        <p:txBody>
          <a:bodyPr/>
          <a:lstStyle/>
          <a:p>
            <a:pPr marL="0" indent="0">
              <a:buNone/>
            </a:pPr>
            <a:endParaRPr lang="en-CA" dirty="0"/>
          </a:p>
        </p:txBody>
      </p:sp>
      <p:sp>
        <p:nvSpPr>
          <p:cNvPr id="4" name="Content Placeholder 3">
            <a:extLst>
              <a:ext uri="{FF2B5EF4-FFF2-40B4-BE49-F238E27FC236}">
                <a16:creationId xmlns:a16="http://schemas.microsoft.com/office/drawing/2014/main" id="{A933803A-076B-4285-A8E5-31BB7281BD46}"/>
              </a:ext>
            </a:extLst>
          </p:cNvPr>
          <p:cNvSpPr>
            <a:spLocks noGrp="1"/>
          </p:cNvSpPr>
          <p:nvPr>
            <p:ph sz="half" idx="2"/>
          </p:nvPr>
        </p:nvSpPr>
        <p:spPr/>
        <p:txBody>
          <a:bodyPr/>
          <a:lstStyle/>
          <a:p>
            <a:r>
              <a:rPr lang="en-CA" dirty="0"/>
              <a:t>Now A is the newest point.</a:t>
            </a:r>
          </a:p>
          <a:p>
            <a:r>
              <a:rPr lang="en-CA" dirty="0"/>
              <a:t>B is the last new point.</a:t>
            </a:r>
          </a:p>
          <a:p>
            <a:r>
              <a:rPr lang="en-CA" dirty="0"/>
              <a:t>C is the other point.</a:t>
            </a:r>
          </a:p>
          <a:p>
            <a:r>
              <a:rPr lang="en-CA" dirty="0"/>
              <a:t>We are looking for the face normal of the triangle, in the direction of the origin.</a:t>
            </a:r>
          </a:p>
        </p:txBody>
      </p:sp>
      <p:sp>
        <p:nvSpPr>
          <p:cNvPr id="5" name="Oval 4">
            <a:extLst>
              <a:ext uri="{FF2B5EF4-FFF2-40B4-BE49-F238E27FC236}">
                <a16:creationId xmlns:a16="http://schemas.microsoft.com/office/drawing/2014/main" id="{7F43BFE6-88DE-4338-B592-AB2C80F906C5}"/>
              </a:ext>
            </a:extLst>
          </p:cNvPr>
          <p:cNvSpPr/>
          <p:nvPr/>
        </p:nvSpPr>
        <p:spPr>
          <a:xfrm>
            <a:off x="6068615" y="1280046"/>
            <a:ext cx="263318" cy="2633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B</a:t>
            </a:r>
          </a:p>
        </p:txBody>
      </p:sp>
      <p:sp>
        <p:nvSpPr>
          <p:cNvPr id="6" name="Oval 5">
            <a:extLst>
              <a:ext uri="{FF2B5EF4-FFF2-40B4-BE49-F238E27FC236}">
                <a16:creationId xmlns:a16="http://schemas.microsoft.com/office/drawing/2014/main" id="{0B3A5B51-4E82-4886-BAE5-C9D23F39C1CD}"/>
              </a:ext>
            </a:extLst>
          </p:cNvPr>
          <p:cNvSpPr/>
          <p:nvPr/>
        </p:nvSpPr>
        <p:spPr>
          <a:xfrm>
            <a:off x="6472989" y="2683492"/>
            <a:ext cx="288758" cy="28875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A</a:t>
            </a:r>
          </a:p>
        </p:txBody>
      </p:sp>
      <p:sp>
        <p:nvSpPr>
          <p:cNvPr id="7" name="Oval 6">
            <a:extLst>
              <a:ext uri="{FF2B5EF4-FFF2-40B4-BE49-F238E27FC236}">
                <a16:creationId xmlns:a16="http://schemas.microsoft.com/office/drawing/2014/main" id="{57C22C18-53B7-4119-A28C-7A0D228CECAD}"/>
              </a:ext>
            </a:extLst>
          </p:cNvPr>
          <p:cNvSpPr/>
          <p:nvPr/>
        </p:nvSpPr>
        <p:spPr>
          <a:xfrm>
            <a:off x="9069294" y="2211332"/>
            <a:ext cx="256674" cy="256674"/>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C</a:t>
            </a:r>
          </a:p>
        </p:txBody>
      </p:sp>
      <p:cxnSp>
        <p:nvCxnSpPr>
          <p:cNvPr id="9" name="Straight Connector 8">
            <a:extLst>
              <a:ext uri="{FF2B5EF4-FFF2-40B4-BE49-F238E27FC236}">
                <a16:creationId xmlns:a16="http://schemas.microsoft.com/office/drawing/2014/main" id="{EAD009C8-922B-4417-AB9A-DF5B514C01BB}"/>
              </a:ext>
            </a:extLst>
          </p:cNvPr>
          <p:cNvCxnSpPr>
            <a:cxnSpLocks/>
            <a:stCxn id="5" idx="4"/>
            <a:endCxn id="6" idx="1"/>
          </p:cNvCxnSpPr>
          <p:nvPr/>
        </p:nvCxnSpPr>
        <p:spPr>
          <a:xfrm>
            <a:off x="6200274" y="1543364"/>
            <a:ext cx="315003" cy="1182416"/>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E091A79-6331-48EF-931B-CE9BD92CBCF6}"/>
              </a:ext>
            </a:extLst>
          </p:cNvPr>
          <p:cNvCxnSpPr>
            <a:cxnSpLocks/>
            <a:stCxn id="6" idx="6"/>
            <a:endCxn id="7" idx="3"/>
          </p:cNvCxnSpPr>
          <p:nvPr/>
        </p:nvCxnSpPr>
        <p:spPr>
          <a:xfrm flipV="1">
            <a:off x="6761747" y="2430417"/>
            <a:ext cx="2345136" cy="397454"/>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F3CBE29A-E7A4-4D56-ADB6-4C361CF75F3C}"/>
              </a:ext>
            </a:extLst>
          </p:cNvPr>
          <p:cNvCxnSpPr>
            <a:cxnSpLocks/>
            <a:stCxn id="7" idx="1"/>
            <a:endCxn id="5" idx="6"/>
          </p:cNvCxnSpPr>
          <p:nvPr/>
        </p:nvCxnSpPr>
        <p:spPr>
          <a:xfrm flipH="1" flipV="1">
            <a:off x="6331933" y="1411705"/>
            <a:ext cx="2774950" cy="837216"/>
          </a:xfrm>
          <a:prstGeom prst="line">
            <a:avLst/>
          </a:prstGeom>
        </p:spPr>
        <p:style>
          <a:lnRef idx="1">
            <a:schemeClr val="dk1"/>
          </a:lnRef>
          <a:fillRef idx="0">
            <a:schemeClr val="dk1"/>
          </a:fillRef>
          <a:effectRef idx="0">
            <a:schemeClr val="dk1"/>
          </a:effectRef>
          <a:fontRef idx="minor">
            <a:schemeClr val="tx1"/>
          </a:fontRef>
        </p:style>
      </p:cxnSp>
      <p:sp>
        <p:nvSpPr>
          <p:cNvPr id="18" name="Oval 17">
            <a:extLst>
              <a:ext uri="{FF2B5EF4-FFF2-40B4-BE49-F238E27FC236}">
                <a16:creationId xmlns:a16="http://schemas.microsoft.com/office/drawing/2014/main" id="{3FF09315-6B39-47AB-A667-D6C8A222866C}"/>
              </a:ext>
            </a:extLst>
          </p:cNvPr>
          <p:cNvSpPr/>
          <p:nvPr/>
        </p:nvSpPr>
        <p:spPr>
          <a:xfrm>
            <a:off x="5261810" y="2803808"/>
            <a:ext cx="288758" cy="288758"/>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O</a:t>
            </a:r>
          </a:p>
        </p:txBody>
      </p:sp>
      <p:cxnSp>
        <p:nvCxnSpPr>
          <p:cNvPr id="27" name="Straight Arrow Connector 26">
            <a:extLst>
              <a:ext uri="{FF2B5EF4-FFF2-40B4-BE49-F238E27FC236}">
                <a16:creationId xmlns:a16="http://schemas.microsoft.com/office/drawing/2014/main" id="{2F7ADE2F-0C79-432A-980F-21EB4039D45C}"/>
              </a:ext>
            </a:extLst>
          </p:cNvPr>
          <p:cNvCxnSpPr/>
          <p:nvPr/>
        </p:nvCxnSpPr>
        <p:spPr>
          <a:xfrm>
            <a:off x="7243011" y="2211332"/>
            <a:ext cx="0" cy="760918"/>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485305794"/>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7BEC-0DDD-470A-B022-1610915CB525}"/>
              </a:ext>
            </a:extLst>
          </p:cNvPr>
          <p:cNvSpPr>
            <a:spLocks noGrp="1"/>
          </p:cNvSpPr>
          <p:nvPr>
            <p:ph type="title"/>
          </p:nvPr>
        </p:nvSpPr>
        <p:spPr/>
        <p:txBody>
          <a:bodyPr/>
          <a:lstStyle/>
          <a:p>
            <a:r>
              <a:rPr lang="en-CA" dirty="0"/>
              <a:t>Process a Tetrahedron</a:t>
            </a:r>
          </a:p>
        </p:txBody>
      </p:sp>
      <p:sp>
        <p:nvSpPr>
          <p:cNvPr id="3" name="Content Placeholder 2">
            <a:extLst>
              <a:ext uri="{FF2B5EF4-FFF2-40B4-BE49-F238E27FC236}">
                <a16:creationId xmlns:a16="http://schemas.microsoft.com/office/drawing/2014/main" id="{EE41B0C8-090B-45FA-AA2E-5F4539E677B0}"/>
              </a:ext>
            </a:extLst>
          </p:cNvPr>
          <p:cNvSpPr>
            <a:spLocks noGrp="1"/>
          </p:cNvSpPr>
          <p:nvPr>
            <p:ph sz="half" idx="1"/>
          </p:nvPr>
        </p:nvSpPr>
        <p:spPr/>
        <p:txBody>
          <a:bodyPr/>
          <a:lstStyle/>
          <a:p>
            <a:pPr marL="0" indent="0">
              <a:buNone/>
            </a:pPr>
            <a:endParaRPr lang="en-CA" dirty="0"/>
          </a:p>
        </p:txBody>
      </p:sp>
      <p:sp>
        <p:nvSpPr>
          <p:cNvPr id="4" name="Content Placeholder 3">
            <a:extLst>
              <a:ext uri="{FF2B5EF4-FFF2-40B4-BE49-F238E27FC236}">
                <a16:creationId xmlns:a16="http://schemas.microsoft.com/office/drawing/2014/main" id="{17A9BFED-E491-4907-945F-5B85879D6356}"/>
              </a:ext>
            </a:extLst>
          </p:cNvPr>
          <p:cNvSpPr>
            <a:spLocks noGrp="1"/>
          </p:cNvSpPr>
          <p:nvPr>
            <p:ph sz="half" idx="2"/>
          </p:nvPr>
        </p:nvSpPr>
        <p:spPr/>
        <p:txBody>
          <a:bodyPr/>
          <a:lstStyle/>
          <a:p>
            <a:r>
              <a:rPr lang="en-CA" dirty="0"/>
              <a:t>Now what direction do we search?</a:t>
            </a:r>
          </a:p>
        </p:txBody>
      </p:sp>
      <p:sp>
        <p:nvSpPr>
          <p:cNvPr id="5" name="Oval 4">
            <a:extLst>
              <a:ext uri="{FF2B5EF4-FFF2-40B4-BE49-F238E27FC236}">
                <a16:creationId xmlns:a16="http://schemas.microsoft.com/office/drawing/2014/main" id="{7D1B1966-4C55-4E18-A2B4-EA0C695892DB}"/>
              </a:ext>
            </a:extLst>
          </p:cNvPr>
          <p:cNvSpPr/>
          <p:nvPr/>
        </p:nvSpPr>
        <p:spPr>
          <a:xfrm>
            <a:off x="7342753" y="961483"/>
            <a:ext cx="304800" cy="3048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C</a:t>
            </a:r>
          </a:p>
        </p:txBody>
      </p:sp>
      <p:sp>
        <p:nvSpPr>
          <p:cNvPr id="7" name="Oval 6">
            <a:extLst>
              <a:ext uri="{FF2B5EF4-FFF2-40B4-BE49-F238E27FC236}">
                <a16:creationId xmlns:a16="http://schemas.microsoft.com/office/drawing/2014/main" id="{D491518D-3FB4-4DB8-94BB-291A637EC357}"/>
              </a:ext>
            </a:extLst>
          </p:cNvPr>
          <p:cNvSpPr/>
          <p:nvPr/>
        </p:nvSpPr>
        <p:spPr>
          <a:xfrm>
            <a:off x="8508468" y="1801776"/>
            <a:ext cx="304800" cy="3048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B</a:t>
            </a:r>
          </a:p>
        </p:txBody>
      </p:sp>
      <p:sp>
        <p:nvSpPr>
          <p:cNvPr id="8" name="Oval 7">
            <a:extLst>
              <a:ext uri="{FF2B5EF4-FFF2-40B4-BE49-F238E27FC236}">
                <a16:creationId xmlns:a16="http://schemas.microsoft.com/office/drawing/2014/main" id="{2BC5D1E8-066C-4DFF-81DF-86A1204790AA}"/>
              </a:ext>
            </a:extLst>
          </p:cNvPr>
          <p:cNvSpPr/>
          <p:nvPr/>
        </p:nvSpPr>
        <p:spPr>
          <a:xfrm>
            <a:off x="10283784" y="1467852"/>
            <a:ext cx="3048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CA" dirty="0"/>
              <a:t>D</a:t>
            </a:r>
          </a:p>
        </p:txBody>
      </p:sp>
      <p:sp>
        <p:nvSpPr>
          <p:cNvPr id="9" name="Oval 8">
            <a:extLst>
              <a:ext uri="{FF2B5EF4-FFF2-40B4-BE49-F238E27FC236}">
                <a16:creationId xmlns:a16="http://schemas.microsoft.com/office/drawing/2014/main" id="{A923190A-3E81-46E8-8042-00082DBA23D3}"/>
              </a:ext>
            </a:extLst>
          </p:cNvPr>
          <p:cNvSpPr/>
          <p:nvPr/>
        </p:nvSpPr>
        <p:spPr>
          <a:xfrm>
            <a:off x="7450516" y="278252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cxnSp>
        <p:nvCxnSpPr>
          <p:cNvPr id="11" name="Straight Connector 10">
            <a:extLst>
              <a:ext uri="{FF2B5EF4-FFF2-40B4-BE49-F238E27FC236}">
                <a16:creationId xmlns:a16="http://schemas.microsoft.com/office/drawing/2014/main" id="{A2A9142C-8EB4-4C91-857A-C53FE39FA92E}"/>
              </a:ext>
            </a:extLst>
          </p:cNvPr>
          <p:cNvCxnSpPr>
            <a:cxnSpLocks/>
            <a:stCxn id="9" idx="0"/>
            <a:endCxn id="5" idx="4"/>
          </p:cNvCxnSpPr>
          <p:nvPr/>
        </p:nvCxnSpPr>
        <p:spPr>
          <a:xfrm flipH="1" flipV="1">
            <a:off x="7495153" y="1266283"/>
            <a:ext cx="107763" cy="151623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B746E2A-A115-4D62-9E27-7CB8576A288B}"/>
              </a:ext>
            </a:extLst>
          </p:cNvPr>
          <p:cNvCxnSpPr>
            <a:stCxn id="9" idx="7"/>
            <a:endCxn id="7" idx="3"/>
          </p:cNvCxnSpPr>
          <p:nvPr/>
        </p:nvCxnSpPr>
        <p:spPr>
          <a:xfrm flipV="1">
            <a:off x="7710679" y="2061939"/>
            <a:ext cx="842426" cy="7652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94D7FF5-B470-4F33-B5E6-BA135B305E94}"/>
              </a:ext>
            </a:extLst>
          </p:cNvPr>
          <p:cNvCxnSpPr>
            <a:stCxn id="7" idx="1"/>
            <a:endCxn id="5" idx="5"/>
          </p:cNvCxnSpPr>
          <p:nvPr/>
        </p:nvCxnSpPr>
        <p:spPr>
          <a:xfrm flipH="1" flipV="1">
            <a:off x="7602916" y="1221646"/>
            <a:ext cx="950189" cy="624767"/>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50A57CC-F490-4B64-AE1F-8E567AEF9A27}"/>
              </a:ext>
            </a:extLst>
          </p:cNvPr>
          <p:cNvCxnSpPr>
            <a:stCxn id="9" idx="6"/>
            <a:endCxn id="8" idx="4"/>
          </p:cNvCxnSpPr>
          <p:nvPr/>
        </p:nvCxnSpPr>
        <p:spPr>
          <a:xfrm flipV="1">
            <a:off x="7755316" y="1772652"/>
            <a:ext cx="2680868" cy="116226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240D24C-0232-4506-B16B-187A88DEA46E}"/>
              </a:ext>
            </a:extLst>
          </p:cNvPr>
          <p:cNvCxnSpPr>
            <a:stCxn id="5" idx="6"/>
            <a:endCxn id="8" idx="2"/>
          </p:cNvCxnSpPr>
          <p:nvPr/>
        </p:nvCxnSpPr>
        <p:spPr>
          <a:xfrm>
            <a:off x="7647553" y="1113883"/>
            <a:ext cx="2636231" cy="50636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B403146-4FDB-4D59-9B29-EB0E082664AF}"/>
              </a:ext>
            </a:extLst>
          </p:cNvPr>
          <p:cNvCxnSpPr>
            <a:cxnSpLocks/>
            <a:stCxn id="8" idx="3"/>
            <a:endCxn id="7" idx="6"/>
          </p:cNvCxnSpPr>
          <p:nvPr/>
        </p:nvCxnSpPr>
        <p:spPr>
          <a:xfrm flipH="1">
            <a:off x="8813268" y="1728015"/>
            <a:ext cx="1515153" cy="226161"/>
          </a:xfrm>
          <a:prstGeom prst="line">
            <a:avLst/>
          </a:prstGeom>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37A5F841-40DB-4AA8-A906-FD70A3D77455}"/>
              </a:ext>
            </a:extLst>
          </p:cNvPr>
          <p:cNvSpPr/>
          <p:nvPr/>
        </p:nvSpPr>
        <p:spPr>
          <a:xfrm>
            <a:off x="5391871" y="2797602"/>
            <a:ext cx="304800" cy="304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O</a:t>
            </a:r>
          </a:p>
        </p:txBody>
      </p:sp>
    </p:spTree>
    <p:extLst>
      <p:ext uri="{BB962C8B-B14F-4D97-AF65-F5344CB8AC3E}">
        <p14:creationId xmlns:p14="http://schemas.microsoft.com/office/powerpoint/2010/main" val="870256073"/>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7BEC-0DDD-470A-B022-1610915CB525}"/>
              </a:ext>
            </a:extLst>
          </p:cNvPr>
          <p:cNvSpPr>
            <a:spLocks noGrp="1"/>
          </p:cNvSpPr>
          <p:nvPr>
            <p:ph type="title"/>
          </p:nvPr>
        </p:nvSpPr>
        <p:spPr/>
        <p:txBody>
          <a:bodyPr/>
          <a:lstStyle/>
          <a:p>
            <a:r>
              <a:rPr lang="en-CA" dirty="0"/>
              <a:t>Process a Tetrahedron</a:t>
            </a:r>
          </a:p>
        </p:txBody>
      </p:sp>
      <p:sp>
        <p:nvSpPr>
          <p:cNvPr id="3" name="Content Placeholder 2">
            <a:extLst>
              <a:ext uri="{FF2B5EF4-FFF2-40B4-BE49-F238E27FC236}">
                <a16:creationId xmlns:a16="http://schemas.microsoft.com/office/drawing/2014/main" id="{EE41B0C8-090B-45FA-AA2E-5F4539E677B0}"/>
              </a:ext>
            </a:extLst>
          </p:cNvPr>
          <p:cNvSpPr>
            <a:spLocks noGrp="1"/>
          </p:cNvSpPr>
          <p:nvPr>
            <p:ph sz="half" idx="1"/>
          </p:nvPr>
        </p:nvSpPr>
        <p:spPr/>
        <p:txBody>
          <a:bodyPr/>
          <a:lstStyle/>
          <a:p>
            <a:pPr marL="0" indent="0">
              <a:buNone/>
            </a:pPr>
            <a:endParaRPr lang="en-CA" dirty="0"/>
          </a:p>
        </p:txBody>
      </p:sp>
      <p:sp>
        <p:nvSpPr>
          <p:cNvPr id="4" name="Content Placeholder 3">
            <a:extLst>
              <a:ext uri="{FF2B5EF4-FFF2-40B4-BE49-F238E27FC236}">
                <a16:creationId xmlns:a16="http://schemas.microsoft.com/office/drawing/2014/main" id="{17A9BFED-E491-4907-945F-5B85879D6356}"/>
              </a:ext>
            </a:extLst>
          </p:cNvPr>
          <p:cNvSpPr>
            <a:spLocks noGrp="1"/>
          </p:cNvSpPr>
          <p:nvPr>
            <p:ph sz="half" idx="2"/>
          </p:nvPr>
        </p:nvSpPr>
        <p:spPr/>
        <p:txBody>
          <a:bodyPr/>
          <a:lstStyle/>
          <a:p>
            <a:r>
              <a:rPr lang="en-CA" dirty="0"/>
              <a:t>The answer isn’t so simple.</a:t>
            </a:r>
          </a:p>
          <a:p>
            <a:r>
              <a:rPr lang="en-CA" dirty="0"/>
              <a:t>We can’t have a simplex with 5 points, so we need to check if the origin is inside the tetrahedron, and if it isn’t we need to “trim” the simplex, removing the points farthest from the origin.</a:t>
            </a:r>
          </a:p>
        </p:txBody>
      </p:sp>
      <p:sp>
        <p:nvSpPr>
          <p:cNvPr id="5" name="Oval 4">
            <a:extLst>
              <a:ext uri="{FF2B5EF4-FFF2-40B4-BE49-F238E27FC236}">
                <a16:creationId xmlns:a16="http://schemas.microsoft.com/office/drawing/2014/main" id="{7D1B1966-4C55-4E18-A2B4-EA0C695892DB}"/>
              </a:ext>
            </a:extLst>
          </p:cNvPr>
          <p:cNvSpPr/>
          <p:nvPr/>
        </p:nvSpPr>
        <p:spPr>
          <a:xfrm>
            <a:off x="7342753" y="961483"/>
            <a:ext cx="304800" cy="3048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C</a:t>
            </a:r>
          </a:p>
        </p:txBody>
      </p:sp>
      <p:sp>
        <p:nvSpPr>
          <p:cNvPr id="7" name="Oval 6">
            <a:extLst>
              <a:ext uri="{FF2B5EF4-FFF2-40B4-BE49-F238E27FC236}">
                <a16:creationId xmlns:a16="http://schemas.microsoft.com/office/drawing/2014/main" id="{D491518D-3FB4-4DB8-94BB-291A637EC357}"/>
              </a:ext>
            </a:extLst>
          </p:cNvPr>
          <p:cNvSpPr/>
          <p:nvPr/>
        </p:nvSpPr>
        <p:spPr>
          <a:xfrm>
            <a:off x="8508468" y="1801776"/>
            <a:ext cx="304800" cy="3048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B</a:t>
            </a:r>
          </a:p>
        </p:txBody>
      </p:sp>
      <p:sp>
        <p:nvSpPr>
          <p:cNvPr id="8" name="Oval 7">
            <a:extLst>
              <a:ext uri="{FF2B5EF4-FFF2-40B4-BE49-F238E27FC236}">
                <a16:creationId xmlns:a16="http://schemas.microsoft.com/office/drawing/2014/main" id="{2BC5D1E8-066C-4DFF-81DF-86A1204790AA}"/>
              </a:ext>
            </a:extLst>
          </p:cNvPr>
          <p:cNvSpPr/>
          <p:nvPr/>
        </p:nvSpPr>
        <p:spPr>
          <a:xfrm>
            <a:off x="10283784" y="1467852"/>
            <a:ext cx="3048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CA" dirty="0"/>
              <a:t>D</a:t>
            </a:r>
          </a:p>
        </p:txBody>
      </p:sp>
      <p:sp>
        <p:nvSpPr>
          <p:cNvPr id="9" name="Oval 8">
            <a:extLst>
              <a:ext uri="{FF2B5EF4-FFF2-40B4-BE49-F238E27FC236}">
                <a16:creationId xmlns:a16="http://schemas.microsoft.com/office/drawing/2014/main" id="{A923190A-3E81-46E8-8042-00082DBA23D3}"/>
              </a:ext>
            </a:extLst>
          </p:cNvPr>
          <p:cNvSpPr/>
          <p:nvPr/>
        </p:nvSpPr>
        <p:spPr>
          <a:xfrm>
            <a:off x="7450516" y="278252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cxnSp>
        <p:nvCxnSpPr>
          <p:cNvPr id="11" name="Straight Connector 10">
            <a:extLst>
              <a:ext uri="{FF2B5EF4-FFF2-40B4-BE49-F238E27FC236}">
                <a16:creationId xmlns:a16="http://schemas.microsoft.com/office/drawing/2014/main" id="{A2A9142C-8EB4-4C91-857A-C53FE39FA92E}"/>
              </a:ext>
            </a:extLst>
          </p:cNvPr>
          <p:cNvCxnSpPr>
            <a:cxnSpLocks/>
            <a:stCxn id="9" idx="0"/>
            <a:endCxn id="5" idx="4"/>
          </p:cNvCxnSpPr>
          <p:nvPr/>
        </p:nvCxnSpPr>
        <p:spPr>
          <a:xfrm flipH="1" flipV="1">
            <a:off x="7495153" y="1266283"/>
            <a:ext cx="107763" cy="151623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B746E2A-A115-4D62-9E27-7CB8576A288B}"/>
              </a:ext>
            </a:extLst>
          </p:cNvPr>
          <p:cNvCxnSpPr>
            <a:stCxn id="9" idx="7"/>
            <a:endCxn id="7" idx="3"/>
          </p:cNvCxnSpPr>
          <p:nvPr/>
        </p:nvCxnSpPr>
        <p:spPr>
          <a:xfrm flipV="1">
            <a:off x="7710679" y="2061939"/>
            <a:ext cx="842426" cy="7652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94D7FF5-B470-4F33-B5E6-BA135B305E94}"/>
              </a:ext>
            </a:extLst>
          </p:cNvPr>
          <p:cNvCxnSpPr>
            <a:stCxn id="7" idx="1"/>
            <a:endCxn id="5" idx="5"/>
          </p:cNvCxnSpPr>
          <p:nvPr/>
        </p:nvCxnSpPr>
        <p:spPr>
          <a:xfrm flipH="1" flipV="1">
            <a:off x="7602916" y="1221646"/>
            <a:ext cx="950189" cy="624767"/>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50A57CC-F490-4B64-AE1F-8E567AEF9A27}"/>
              </a:ext>
            </a:extLst>
          </p:cNvPr>
          <p:cNvCxnSpPr>
            <a:stCxn id="9" idx="6"/>
            <a:endCxn id="8" idx="4"/>
          </p:cNvCxnSpPr>
          <p:nvPr/>
        </p:nvCxnSpPr>
        <p:spPr>
          <a:xfrm flipV="1">
            <a:off x="7755316" y="1772652"/>
            <a:ext cx="2680868" cy="116226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240D24C-0232-4506-B16B-187A88DEA46E}"/>
              </a:ext>
            </a:extLst>
          </p:cNvPr>
          <p:cNvCxnSpPr>
            <a:stCxn id="5" idx="6"/>
            <a:endCxn id="8" idx="2"/>
          </p:cNvCxnSpPr>
          <p:nvPr/>
        </p:nvCxnSpPr>
        <p:spPr>
          <a:xfrm>
            <a:off x="7647553" y="1113883"/>
            <a:ext cx="2636231" cy="50636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B403146-4FDB-4D59-9B29-EB0E082664AF}"/>
              </a:ext>
            </a:extLst>
          </p:cNvPr>
          <p:cNvCxnSpPr>
            <a:cxnSpLocks/>
            <a:stCxn id="8" idx="3"/>
            <a:endCxn id="7" idx="6"/>
          </p:cNvCxnSpPr>
          <p:nvPr/>
        </p:nvCxnSpPr>
        <p:spPr>
          <a:xfrm flipH="1">
            <a:off x="8813268" y="1728015"/>
            <a:ext cx="1515153" cy="226161"/>
          </a:xfrm>
          <a:prstGeom prst="line">
            <a:avLst/>
          </a:prstGeom>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37A5F841-40DB-4AA8-A906-FD70A3D77455}"/>
              </a:ext>
            </a:extLst>
          </p:cNvPr>
          <p:cNvSpPr/>
          <p:nvPr/>
        </p:nvSpPr>
        <p:spPr>
          <a:xfrm>
            <a:off x="5391871" y="2797602"/>
            <a:ext cx="304800" cy="304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O</a:t>
            </a:r>
          </a:p>
        </p:txBody>
      </p:sp>
    </p:spTree>
    <p:extLst>
      <p:ext uri="{BB962C8B-B14F-4D97-AF65-F5344CB8AC3E}">
        <p14:creationId xmlns:p14="http://schemas.microsoft.com/office/powerpoint/2010/main" val="2102225394"/>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7BEC-0DDD-470A-B022-1610915CB525}"/>
              </a:ext>
            </a:extLst>
          </p:cNvPr>
          <p:cNvSpPr>
            <a:spLocks noGrp="1"/>
          </p:cNvSpPr>
          <p:nvPr>
            <p:ph type="title"/>
          </p:nvPr>
        </p:nvSpPr>
        <p:spPr/>
        <p:txBody>
          <a:bodyPr/>
          <a:lstStyle/>
          <a:p>
            <a:r>
              <a:rPr lang="en-CA" dirty="0"/>
              <a:t>Process a Tetrahedron</a:t>
            </a:r>
          </a:p>
        </p:txBody>
      </p:sp>
      <p:sp>
        <p:nvSpPr>
          <p:cNvPr id="3" name="Content Placeholder 2">
            <a:extLst>
              <a:ext uri="{FF2B5EF4-FFF2-40B4-BE49-F238E27FC236}">
                <a16:creationId xmlns:a16="http://schemas.microsoft.com/office/drawing/2014/main" id="{EE41B0C8-090B-45FA-AA2E-5F4539E677B0}"/>
              </a:ext>
            </a:extLst>
          </p:cNvPr>
          <p:cNvSpPr>
            <a:spLocks noGrp="1"/>
          </p:cNvSpPr>
          <p:nvPr>
            <p:ph sz="half" idx="1"/>
          </p:nvPr>
        </p:nvSpPr>
        <p:spPr/>
        <p:txBody>
          <a:bodyPr/>
          <a:lstStyle/>
          <a:p>
            <a:pPr marL="0" indent="0">
              <a:buNone/>
            </a:pPr>
            <a:endParaRPr lang="en-CA" dirty="0"/>
          </a:p>
        </p:txBody>
      </p:sp>
      <p:sp>
        <p:nvSpPr>
          <p:cNvPr id="4" name="Content Placeholder 3">
            <a:extLst>
              <a:ext uri="{FF2B5EF4-FFF2-40B4-BE49-F238E27FC236}">
                <a16:creationId xmlns:a16="http://schemas.microsoft.com/office/drawing/2014/main" id="{17A9BFED-E491-4907-945F-5B85879D6356}"/>
              </a:ext>
            </a:extLst>
          </p:cNvPr>
          <p:cNvSpPr>
            <a:spLocks noGrp="1"/>
          </p:cNvSpPr>
          <p:nvPr>
            <p:ph sz="half" idx="2"/>
          </p:nvPr>
        </p:nvSpPr>
        <p:spPr/>
        <p:txBody>
          <a:bodyPr/>
          <a:lstStyle/>
          <a:p>
            <a:r>
              <a:rPr lang="en-CA" dirty="0"/>
              <a:t>The easiest way to do this is to check each of the new triangles we made when we added A to the simplex.</a:t>
            </a:r>
          </a:p>
          <a:p>
            <a:r>
              <a:rPr lang="en-CA" dirty="0"/>
              <a:t>We want to check if their face normal (pointing away from the inside of the tetrahedron) is pointing in the direction of the origin. If it is, then we can remove the point not on that face.</a:t>
            </a:r>
          </a:p>
        </p:txBody>
      </p:sp>
      <p:sp>
        <p:nvSpPr>
          <p:cNvPr id="5" name="Oval 4">
            <a:extLst>
              <a:ext uri="{FF2B5EF4-FFF2-40B4-BE49-F238E27FC236}">
                <a16:creationId xmlns:a16="http://schemas.microsoft.com/office/drawing/2014/main" id="{7D1B1966-4C55-4E18-A2B4-EA0C695892DB}"/>
              </a:ext>
            </a:extLst>
          </p:cNvPr>
          <p:cNvSpPr/>
          <p:nvPr/>
        </p:nvSpPr>
        <p:spPr>
          <a:xfrm>
            <a:off x="7342753" y="961483"/>
            <a:ext cx="304800" cy="3048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C</a:t>
            </a:r>
          </a:p>
        </p:txBody>
      </p:sp>
      <p:sp>
        <p:nvSpPr>
          <p:cNvPr id="7" name="Oval 6">
            <a:extLst>
              <a:ext uri="{FF2B5EF4-FFF2-40B4-BE49-F238E27FC236}">
                <a16:creationId xmlns:a16="http://schemas.microsoft.com/office/drawing/2014/main" id="{D491518D-3FB4-4DB8-94BB-291A637EC357}"/>
              </a:ext>
            </a:extLst>
          </p:cNvPr>
          <p:cNvSpPr/>
          <p:nvPr/>
        </p:nvSpPr>
        <p:spPr>
          <a:xfrm>
            <a:off x="8508468" y="1801776"/>
            <a:ext cx="304800" cy="3048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B</a:t>
            </a:r>
          </a:p>
        </p:txBody>
      </p:sp>
      <p:sp>
        <p:nvSpPr>
          <p:cNvPr id="8" name="Oval 7">
            <a:extLst>
              <a:ext uri="{FF2B5EF4-FFF2-40B4-BE49-F238E27FC236}">
                <a16:creationId xmlns:a16="http://schemas.microsoft.com/office/drawing/2014/main" id="{2BC5D1E8-066C-4DFF-81DF-86A1204790AA}"/>
              </a:ext>
            </a:extLst>
          </p:cNvPr>
          <p:cNvSpPr/>
          <p:nvPr/>
        </p:nvSpPr>
        <p:spPr>
          <a:xfrm>
            <a:off x="10283784" y="1467852"/>
            <a:ext cx="3048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CA" dirty="0"/>
              <a:t>D</a:t>
            </a:r>
          </a:p>
        </p:txBody>
      </p:sp>
      <p:sp>
        <p:nvSpPr>
          <p:cNvPr id="9" name="Oval 8">
            <a:extLst>
              <a:ext uri="{FF2B5EF4-FFF2-40B4-BE49-F238E27FC236}">
                <a16:creationId xmlns:a16="http://schemas.microsoft.com/office/drawing/2014/main" id="{A923190A-3E81-46E8-8042-00082DBA23D3}"/>
              </a:ext>
            </a:extLst>
          </p:cNvPr>
          <p:cNvSpPr/>
          <p:nvPr/>
        </p:nvSpPr>
        <p:spPr>
          <a:xfrm>
            <a:off x="7450516" y="278252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cxnSp>
        <p:nvCxnSpPr>
          <p:cNvPr id="11" name="Straight Connector 10">
            <a:extLst>
              <a:ext uri="{FF2B5EF4-FFF2-40B4-BE49-F238E27FC236}">
                <a16:creationId xmlns:a16="http://schemas.microsoft.com/office/drawing/2014/main" id="{A2A9142C-8EB4-4C91-857A-C53FE39FA92E}"/>
              </a:ext>
            </a:extLst>
          </p:cNvPr>
          <p:cNvCxnSpPr>
            <a:cxnSpLocks/>
            <a:stCxn id="9" idx="0"/>
            <a:endCxn id="5" idx="4"/>
          </p:cNvCxnSpPr>
          <p:nvPr/>
        </p:nvCxnSpPr>
        <p:spPr>
          <a:xfrm flipH="1" flipV="1">
            <a:off x="7495153" y="1266283"/>
            <a:ext cx="107763" cy="151623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B746E2A-A115-4D62-9E27-7CB8576A288B}"/>
              </a:ext>
            </a:extLst>
          </p:cNvPr>
          <p:cNvCxnSpPr>
            <a:stCxn id="9" idx="7"/>
            <a:endCxn id="7" idx="3"/>
          </p:cNvCxnSpPr>
          <p:nvPr/>
        </p:nvCxnSpPr>
        <p:spPr>
          <a:xfrm flipV="1">
            <a:off x="7710679" y="2061939"/>
            <a:ext cx="842426" cy="7652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94D7FF5-B470-4F33-B5E6-BA135B305E94}"/>
              </a:ext>
            </a:extLst>
          </p:cNvPr>
          <p:cNvCxnSpPr>
            <a:stCxn id="7" idx="1"/>
            <a:endCxn id="5" idx="5"/>
          </p:cNvCxnSpPr>
          <p:nvPr/>
        </p:nvCxnSpPr>
        <p:spPr>
          <a:xfrm flipH="1" flipV="1">
            <a:off x="7602916" y="1221646"/>
            <a:ext cx="950189" cy="624767"/>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50A57CC-F490-4B64-AE1F-8E567AEF9A27}"/>
              </a:ext>
            </a:extLst>
          </p:cNvPr>
          <p:cNvCxnSpPr>
            <a:stCxn id="9" idx="6"/>
            <a:endCxn id="8" idx="4"/>
          </p:cNvCxnSpPr>
          <p:nvPr/>
        </p:nvCxnSpPr>
        <p:spPr>
          <a:xfrm flipV="1">
            <a:off x="7755316" y="1772652"/>
            <a:ext cx="2680868" cy="116226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240D24C-0232-4506-B16B-187A88DEA46E}"/>
              </a:ext>
            </a:extLst>
          </p:cNvPr>
          <p:cNvCxnSpPr>
            <a:stCxn id="5" idx="6"/>
            <a:endCxn id="8" idx="2"/>
          </p:cNvCxnSpPr>
          <p:nvPr/>
        </p:nvCxnSpPr>
        <p:spPr>
          <a:xfrm>
            <a:off x="7647553" y="1113883"/>
            <a:ext cx="2636231" cy="50636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B403146-4FDB-4D59-9B29-EB0E082664AF}"/>
              </a:ext>
            </a:extLst>
          </p:cNvPr>
          <p:cNvCxnSpPr>
            <a:cxnSpLocks/>
            <a:stCxn id="8" idx="3"/>
            <a:endCxn id="7" idx="6"/>
          </p:cNvCxnSpPr>
          <p:nvPr/>
        </p:nvCxnSpPr>
        <p:spPr>
          <a:xfrm flipH="1">
            <a:off x="8813268" y="1728015"/>
            <a:ext cx="1515153" cy="226161"/>
          </a:xfrm>
          <a:prstGeom prst="line">
            <a:avLst/>
          </a:prstGeom>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37A5F841-40DB-4AA8-A906-FD70A3D77455}"/>
              </a:ext>
            </a:extLst>
          </p:cNvPr>
          <p:cNvSpPr/>
          <p:nvPr/>
        </p:nvSpPr>
        <p:spPr>
          <a:xfrm>
            <a:off x="5391871" y="2797602"/>
            <a:ext cx="304800" cy="304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O</a:t>
            </a:r>
          </a:p>
        </p:txBody>
      </p:sp>
    </p:spTree>
    <p:extLst>
      <p:ext uri="{BB962C8B-B14F-4D97-AF65-F5344CB8AC3E}">
        <p14:creationId xmlns:p14="http://schemas.microsoft.com/office/powerpoint/2010/main" val="3360127647"/>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7BEC-0DDD-470A-B022-1610915CB525}"/>
              </a:ext>
            </a:extLst>
          </p:cNvPr>
          <p:cNvSpPr>
            <a:spLocks noGrp="1"/>
          </p:cNvSpPr>
          <p:nvPr>
            <p:ph type="title"/>
          </p:nvPr>
        </p:nvSpPr>
        <p:spPr/>
        <p:txBody>
          <a:bodyPr/>
          <a:lstStyle/>
          <a:p>
            <a:r>
              <a:rPr lang="en-CA" dirty="0"/>
              <a:t>Process a Tetrahedron</a:t>
            </a:r>
          </a:p>
        </p:txBody>
      </p:sp>
      <p:sp>
        <p:nvSpPr>
          <p:cNvPr id="3" name="Content Placeholder 2">
            <a:extLst>
              <a:ext uri="{FF2B5EF4-FFF2-40B4-BE49-F238E27FC236}">
                <a16:creationId xmlns:a16="http://schemas.microsoft.com/office/drawing/2014/main" id="{EE41B0C8-090B-45FA-AA2E-5F4539E677B0}"/>
              </a:ext>
            </a:extLst>
          </p:cNvPr>
          <p:cNvSpPr>
            <a:spLocks noGrp="1"/>
          </p:cNvSpPr>
          <p:nvPr>
            <p:ph sz="half" idx="1"/>
          </p:nvPr>
        </p:nvSpPr>
        <p:spPr/>
        <p:txBody>
          <a:bodyPr/>
          <a:lstStyle/>
          <a:p>
            <a:pPr marL="0" indent="0">
              <a:buNone/>
            </a:pPr>
            <a:endParaRPr lang="en-CA" dirty="0"/>
          </a:p>
        </p:txBody>
      </p:sp>
      <p:sp>
        <p:nvSpPr>
          <p:cNvPr id="4" name="Content Placeholder 3">
            <a:extLst>
              <a:ext uri="{FF2B5EF4-FFF2-40B4-BE49-F238E27FC236}">
                <a16:creationId xmlns:a16="http://schemas.microsoft.com/office/drawing/2014/main" id="{17A9BFED-E491-4907-945F-5B85879D6356}"/>
              </a:ext>
            </a:extLst>
          </p:cNvPr>
          <p:cNvSpPr>
            <a:spLocks noGrp="1"/>
          </p:cNvSpPr>
          <p:nvPr>
            <p:ph sz="half" idx="2"/>
          </p:nvPr>
        </p:nvSpPr>
        <p:spPr/>
        <p:txBody>
          <a:bodyPr/>
          <a:lstStyle/>
          <a:p>
            <a:r>
              <a:rPr lang="en-CA" dirty="0"/>
              <a:t>In the above case we would start by checking ABC, given the face normal (blue arrow.)</a:t>
            </a:r>
          </a:p>
          <a:p>
            <a:r>
              <a:rPr lang="en-CA" dirty="0"/>
              <a:t>Since it is pointing towards the origin, and away from the tetrahedron (the origin is outside the tetrahedron) we know we can throw away D, and look in the direction of the face normal.</a:t>
            </a:r>
          </a:p>
        </p:txBody>
      </p:sp>
      <p:sp>
        <p:nvSpPr>
          <p:cNvPr id="5" name="Oval 4">
            <a:extLst>
              <a:ext uri="{FF2B5EF4-FFF2-40B4-BE49-F238E27FC236}">
                <a16:creationId xmlns:a16="http://schemas.microsoft.com/office/drawing/2014/main" id="{7D1B1966-4C55-4E18-A2B4-EA0C695892DB}"/>
              </a:ext>
            </a:extLst>
          </p:cNvPr>
          <p:cNvSpPr/>
          <p:nvPr/>
        </p:nvSpPr>
        <p:spPr>
          <a:xfrm>
            <a:off x="7342753" y="961483"/>
            <a:ext cx="304800" cy="3048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C</a:t>
            </a:r>
          </a:p>
        </p:txBody>
      </p:sp>
      <p:sp>
        <p:nvSpPr>
          <p:cNvPr id="7" name="Oval 6">
            <a:extLst>
              <a:ext uri="{FF2B5EF4-FFF2-40B4-BE49-F238E27FC236}">
                <a16:creationId xmlns:a16="http://schemas.microsoft.com/office/drawing/2014/main" id="{D491518D-3FB4-4DB8-94BB-291A637EC357}"/>
              </a:ext>
            </a:extLst>
          </p:cNvPr>
          <p:cNvSpPr/>
          <p:nvPr/>
        </p:nvSpPr>
        <p:spPr>
          <a:xfrm>
            <a:off x="8508468" y="1801776"/>
            <a:ext cx="304800" cy="3048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B</a:t>
            </a:r>
          </a:p>
        </p:txBody>
      </p:sp>
      <p:sp>
        <p:nvSpPr>
          <p:cNvPr id="8" name="Oval 7">
            <a:extLst>
              <a:ext uri="{FF2B5EF4-FFF2-40B4-BE49-F238E27FC236}">
                <a16:creationId xmlns:a16="http://schemas.microsoft.com/office/drawing/2014/main" id="{2BC5D1E8-066C-4DFF-81DF-86A1204790AA}"/>
              </a:ext>
            </a:extLst>
          </p:cNvPr>
          <p:cNvSpPr/>
          <p:nvPr/>
        </p:nvSpPr>
        <p:spPr>
          <a:xfrm>
            <a:off x="10283784" y="1467852"/>
            <a:ext cx="304800" cy="3048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CA" dirty="0"/>
              <a:t>D</a:t>
            </a:r>
          </a:p>
        </p:txBody>
      </p:sp>
      <p:sp>
        <p:nvSpPr>
          <p:cNvPr id="9" name="Oval 8">
            <a:extLst>
              <a:ext uri="{FF2B5EF4-FFF2-40B4-BE49-F238E27FC236}">
                <a16:creationId xmlns:a16="http://schemas.microsoft.com/office/drawing/2014/main" id="{A923190A-3E81-46E8-8042-00082DBA23D3}"/>
              </a:ext>
            </a:extLst>
          </p:cNvPr>
          <p:cNvSpPr/>
          <p:nvPr/>
        </p:nvSpPr>
        <p:spPr>
          <a:xfrm>
            <a:off x="7450516" y="278252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cxnSp>
        <p:nvCxnSpPr>
          <p:cNvPr id="11" name="Straight Connector 10">
            <a:extLst>
              <a:ext uri="{FF2B5EF4-FFF2-40B4-BE49-F238E27FC236}">
                <a16:creationId xmlns:a16="http://schemas.microsoft.com/office/drawing/2014/main" id="{A2A9142C-8EB4-4C91-857A-C53FE39FA92E}"/>
              </a:ext>
            </a:extLst>
          </p:cNvPr>
          <p:cNvCxnSpPr>
            <a:cxnSpLocks/>
            <a:stCxn id="9" idx="0"/>
            <a:endCxn id="5" idx="4"/>
          </p:cNvCxnSpPr>
          <p:nvPr/>
        </p:nvCxnSpPr>
        <p:spPr>
          <a:xfrm flipH="1" flipV="1">
            <a:off x="7495153" y="1266283"/>
            <a:ext cx="107763" cy="151623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B746E2A-A115-4D62-9E27-7CB8576A288B}"/>
              </a:ext>
            </a:extLst>
          </p:cNvPr>
          <p:cNvCxnSpPr>
            <a:stCxn id="9" idx="7"/>
            <a:endCxn id="7" idx="3"/>
          </p:cNvCxnSpPr>
          <p:nvPr/>
        </p:nvCxnSpPr>
        <p:spPr>
          <a:xfrm flipV="1">
            <a:off x="7710679" y="2061939"/>
            <a:ext cx="842426" cy="7652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94D7FF5-B470-4F33-B5E6-BA135B305E94}"/>
              </a:ext>
            </a:extLst>
          </p:cNvPr>
          <p:cNvCxnSpPr>
            <a:stCxn id="7" idx="1"/>
            <a:endCxn id="5" idx="5"/>
          </p:cNvCxnSpPr>
          <p:nvPr/>
        </p:nvCxnSpPr>
        <p:spPr>
          <a:xfrm flipH="1" flipV="1">
            <a:off x="7602916" y="1221646"/>
            <a:ext cx="950189" cy="624767"/>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50A57CC-F490-4B64-AE1F-8E567AEF9A27}"/>
              </a:ext>
            </a:extLst>
          </p:cNvPr>
          <p:cNvCxnSpPr>
            <a:stCxn id="9" idx="6"/>
            <a:endCxn id="8" idx="4"/>
          </p:cNvCxnSpPr>
          <p:nvPr/>
        </p:nvCxnSpPr>
        <p:spPr>
          <a:xfrm flipV="1">
            <a:off x="7755316" y="1772652"/>
            <a:ext cx="2680868" cy="116226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8240D24C-0232-4506-B16B-187A88DEA46E}"/>
              </a:ext>
            </a:extLst>
          </p:cNvPr>
          <p:cNvCxnSpPr>
            <a:stCxn id="5" idx="6"/>
            <a:endCxn id="8" idx="2"/>
          </p:cNvCxnSpPr>
          <p:nvPr/>
        </p:nvCxnSpPr>
        <p:spPr>
          <a:xfrm>
            <a:off x="7647553" y="1113883"/>
            <a:ext cx="2636231" cy="506369"/>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B403146-4FDB-4D59-9B29-EB0E082664AF}"/>
              </a:ext>
            </a:extLst>
          </p:cNvPr>
          <p:cNvCxnSpPr>
            <a:cxnSpLocks/>
            <a:stCxn id="8" idx="3"/>
            <a:endCxn id="7" idx="6"/>
          </p:cNvCxnSpPr>
          <p:nvPr/>
        </p:nvCxnSpPr>
        <p:spPr>
          <a:xfrm flipH="1">
            <a:off x="8813268" y="1728015"/>
            <a:ext cx="1515153" cy="226161"/>
          </a:xfrm>
          <a:prstGeom prst="line">
            <a:avLst/>
          </a:prstGeom>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37A5F841-40DB-4AA8-A906-FD70A3D77455}"/>
              </a:ext>
            </a:extLst>
          </p:cNvPr>
          <p:cNvSpPr/>
          <p:nvPr/>
        </p:nvSpPr>
        <p:spPr>
          <a:xfrm>
            <a:off x="5391871" y="2797602"/>
            <a:ext cx="304800" cy="304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O</a:t>
            </a:r>
          </a:p>
        </p:txBody>
      </p:sp>
      <p:cxnSp>
        <p:nvCxnSpPr>
          <p:cNvPr id="10" name="Straight Arrow Connector 9">
            <a:extLst>
              <a:ext uri="{FF2B5EF4-FFF2-40B4-BE49-F238E27FC236}">
                <a16:creationId xmlns:a16="http://schemas.microsoft.com/office/drawing/2014/main" id="{5C43F321-B309-434E-834F-7A40600DCE22}"/>
              </a:ext>
            </a:extLst>
          </p:cNvPr>
          <p:cNvCxnSpPr/>
          <p:nvPr/>
        </p:nvCxnSpPr>
        <p:spPr>
          <a:xfrm flipH="1">
            <a:off x="6954253" y="1954176"/>
            <a:ext cx="1010652" cy="107763"/>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4124897310"/>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7BEC-0DDD-470A-B022-1610915CB525}"/>
              </a:ext>
            </a:extLst>
          </p:cNvPr>
          <p:cNvSpPr>
            <a:spLocks noGrp="1"/>
          </p:cNvSpPr>
          <p:nvPr>
            <p:ph type="title"/>
          </p:nvPr>
        </p:nvSpPr>
        <p:spPr/>
        <p:txBody>
          <a:bodyPr/>
          <a:lstStyle/>
          <a:p>
            <a:r>
              <a:rPr lang="en-CA" dirty="0"/>
              <a:t>Process a Tetrahedron</a:t>
            </a:r>
          </a:p>
        </p:txBody>
      </p:sp>
      <p:sp>
        <p:nvSpPr>
          <p:cNvPr id="3" name="Content Placeholder 2">
            <a:extLst>
              <a:ext uri="{FF2B5EF4-FFF2-40B4-BE49-F238E27FC236}">
                <a16:creationId xmlns:a16="http://schemas.microsoft.com/office/drawing/2014/main" id="{EE41B0C8-090B-45FA-AA2E-5F4539E677B0}"/>
              </a:ext>
            </a:extLst>
          </p:cNvPr>
          <p:cNvSpPr>
            <a:spLocks noGrp="1"/>
          </p:cNvSpPr>
          <p:nvPr>
            <p:ph sz="half" idx="1"/>
          </p:nvPr>
        </p:nvSpPr>
        <p:spPr/>
        <p:txBody>
          <a:bodyPr/>
          <a:lstStyle/>
          <a:p>
            <a:pPr marL="0" indent="0">
              <a:buNone/>
            </a:pPr>
            <a:endParaRPr lang="en-CA" dirty="0"/>
          </a:p>
        </p:txBody>
      </p:sp>
      <p:sp>
        <p:nvSpPr>
          <p:cNvPr id="4" name="Content Placeholder 3">
            <a:extLst>
              <a:ext uri="{FF2B5EF4-FFF2-40B4-BE49-F238E27FC236}">
                <a16:creationId xmlns:a16="http://schemas.microsoft.com/office/drawing/2014/main" id="{17A9BFED-E491-4907-945F-5B85879D6356}"/>
              </a:ext>
            </a:extLst>
          </p:cNvPr>
          <p:cNvSpPr>
            <a:spLocks noGrp="1"/>
          </p:cNvSpPr>
          <p:nvPr>
            <p:ph sz="half" idx="2"/>
          </p:nvPr>
        </p:nvSpPr>
        <p:spPr/>
        <p:txBody>
          <a:bodyPr/>
          <a:lstStyle/>
          <a:p>
            <a:r>
              <a:rPr lang="en-CA" dirty="0"/>
              <a:t>And so we would generate a new tetrahedron, from a new triangle.</a:t>
            </a:r>
          </a:p>
        </p:txBody>
      </p:sp>
      <p:sp>
        <p:nvSpPr>
          <p:cNvPr id="5" name="Oval 4">
            <a:extLst>
              <a:ext uri="{FF2B5EF4-FFF2-40B4-BE49-F238E27FC236}">
                <a16:creationId xmlns:a16="http://schemas.microsoft.com/office/drawing/2014/main" id="{7D1B1966-4C55-4E18-A2B4-EA0C695892DB}"/>
              </a:ext>
            </a:extLst>
          </p:cNvPr>
          <p:cNvSpPr/>
          <p:nvPr/>
        </p:nvSpPr>
        <p:spPr>
          <a:xfrm>
            <a:off x="7342753" y="961483"/>
            <a:ext cx="304800" cy="3048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CA" dirty="0"/>
              <a:t>C</a:t>
            </a:r>
          </a:p>
        </p:txBody>
      </p:sp>
      <p:sp>
        <p:nvSpPr>
          <p:cNvPr id="7" name="Oval 6">
            <a:extLst>
              <a:ext uri="{FF2B5EF4-FFF2-40B4-BE49-F238E27FC236}">
                <a16:creationId xmlns:a16="http://schemas.microsoft.com/office/drawing/2014/main" id="{D491518D-3FB4-4DB8-94BB-291A637EC357}"/>
              </a:ext>
            </a:extLst>
          </p:cNvPr>
          <p:cNvSpPr/>
          <p:nvPr/>
        </p:nvSpPr>
        <p:spPr>
          <a:xfrm>
            <a:off x="8508468" y="1801776"/>
            <a:ext cx="304800" cy="3048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CA" dirty="0"/>
              <a:t>B</a:t>
            </a:r>
          </a:p>
        </p:txBody>
      </p:sp>
      <p:sp>
        <p:nvSpPr>
          <p:cNvPr id="9" name="Oval 8">
            <a:extLst>
              <a:ext uri="{FF2B5EF4-FFF2-40B4-BE49-F238E27FC236}">
                <a16:creationId xmlns:a16="http://schemas.microsoft.com/office/drawing/2014/main" id="{A923190A-3E81-46E8-8042-00082DBA23D3}"/>
              </a:ext>
            </a:extLst>
          </p:cNvPr>
          <p:cNvSpPr/>
          <p:nvPr/>
        </p:nvSpPr>
        <p:spPr>
          <a:xfrm>
            <a:off x="7450516" y="2782520"/>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A</a:t>
            </a:r>
          </a:p>
        </p:txBody>
      </p:sp>
      <p:cxnSp>
        <p:nvCxnSpPr>
          <p:cNvPr id="11" name="Straight Connector 10">
            <a:extLst>
              <a:ext uri="{FF2B5EF4-FFF2-40B4-BE49-F238E27FC236}">
                <a16:creationId xmlns:a16="http://schemas.microsoft.com/office/drawing/2014/main" id="{A2A9142C-8EB4-4C91-857A-C53FE39FA92E}"/>
              </a:ext>
            </a:extLst>
          </p:cNvPr>
          <p:cNvCxnSpPr>
            <a:cxnSpLocks/>
            <a:stCxn id="9" idx="0"/>
            <a:endCxn id="5" idx="4"/>
          </p:cNvCxnSpPr>
          <p:nvPr/>
        </p:nvCxnSpPr>
        <p:spPr>
          <a:xfrm flipH="1" flipV="1">
            <a:off x="7495153" y="1266283"/>
            <a:ext cx="107763" cy="1516237"/>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8B746E2A-A115-4D62-9E27-7CB8576A288B}"/>
              </a:ext>
            </a:extLst>
          </p:cNvPr>
          <p:cNvCxnSpPr>
            <a:stCxn id="9" idx="7"/>
            <a:endCxn id="7" idx="3"/>
          </p:cNvCxnSpPr>
          <p:nvPr/>
        </p:nvCxnSpPr>
        <p:spPr>
          <a:xfrm flipV="1">
            <a:off x="7710679" y="2061939"/>
            <a:ext cx="842426" cy="765218"/>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E94D7FF5-B470-4F33-B5E6-BA135B305E94}"/>
              </a:ext>
            </a:extLst>
          </p:cNvPr>
          <p:cNvCxnSpPr>
            <a:stCxn id="7" idx="1"/>
            <a:endCxn id="5" idx="5"/>
          </p:cNvCxnSpPr>
          <p:nvPr/>
        </p:nvCxnSpPr>
        <p:spPr>
          <a:xfrm flipH="1" flipV="1">
            <a:off x="7602916" y="1221646"/>
            <a:ext cx="950189" cy="624767"/>
          </a:xfrm>
          <a:prstGeom prst="line">
            <a:avLst/>
          </a:prstGeom>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37A5F841-40DB-4AA8-A906-FD70A3D77455}"/>
              </a:ext>
            </a:extLst>
          </p:cNvPr>
          <p:cNvSpPr/>
          <p:nvPr/>
        </p:nvSpPr>
        <p:spPr>
          <a:xfrm>
            <a:off x="5391871" y="2797602"/>
            <a:ext cx="304800" cy="304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CA" dirty="0"/>
              <a:t>O</a:t>
            </a:r>
          </a:p>
        </p:txBody>
      </p:sp>
      <p:cxnSp>
        <p:nvCxnSpPr>
          <p:cNvPr id="10" name="Straight Arrow Connector 9">
            <a:extLst>
              <a:ext uri="{FF2B5EF4-FFF2-40B4-BE49-F238E27FC236}">
                <a16:creationId xmlns:a16="http://schemas.microsoft.com/office/drawing/2014/main" id="{5C43F321-B309-434E-834F-7A40600DCE22}"/>
              </a:ext>
            </a:extLst>
          </p:cNvPr>
          <p:cNvCxnSpPr/>
          <p:nvPr/>
        </p:nvCxnSpPr>
        <p:spPr>
          <a:xfrm flipH="1">
            <a:off x="6954253" y="1954176"/>
            <a:ext cx="1010652" cy="107763"/>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937206319"/>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2"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1"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2"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3"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4"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0"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2" name="Group 31">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3" name="Rectangle 32">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Isosceles Triangle 33">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Rectangle 34">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7" name="Rectangle 36">
            <a:extLst>
              <a:ext uri="{FF2B5EF4-FFF2-40B4-BE49-F238E27FC236}">
                <a16:creationId xmlns:a16="http://schemas.microsoft.com/office/drawing/2014/main" id="{6BDBA639-2A71-4A60-A71A-FF1836F54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5E208A8B-5EBD-4532-BE72-26414FA7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40" name="Freeform 5">
              <a:extLst>
                <a:ext uri="{FF2B5EF4-FFF2-40B4-BE49-F238E27FC236}">
                  <a16:creationId xmlns:a16="http://schemas.microsoft.com/office/drawing/2014/main" id="{15D09196-B338-4AB5-A71B-CFD5FFCA6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a:extLst>
                <a:ext uri="{FF2B5EF4-FFF2-40B4-BE49-F238E27FC236}">
                  <a16:creationId xmlns:a16="http://schemas.microsoft.com/office/drawing/2014/main" id="{F50B4463-128A-4677-A285-C017E6C54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a:extLst>
                <a:ext uri="{FF2B5EF4-FFF2-40B4-BE49-F238E27FC236}">
                  <a16:creationId xmlns:a16="http://schemas.microsoft.com/office/drawing/2014/main" id="{1D9B95CD-F023-4DFA-9678-1E02713F7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8">
              <a:extLst>
                <a:ext uri="{FF2B5EF4-FFF2-40B4-BE49-F238E27FC236}">
                  <a16:creationId xmlns:a16="http://schemas.microsoft.com/office/drawing/2014/main" id="{1DDF47A8-BE7B-43F3-A500-F5A4656D8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9">
              <a:extLst>
                <a:ext uri="{FF2B5EF4-FFF2-40B4-BE49-F238E27FC236}">
                  <a16:creationId xmlns:a16="http://schemas.microsoft.com/office/drawing/2014/main" id="{2DD394DE-76FB-42F8-85F2-FD436F423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0">
              <a:extLst>
                <a:ext uri="{FF2B5EF4-FFF2-40B4-BE49-F238E27FC236}">
                  <a16:creationId xmlns:a16="http://schemas.microsoft.com/office/drawing/2014/main" id="{B95F2EFB-87E6-4400-AAF3-7EB8B4F15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1">
              <a:extLst>
                <a:ext uri="{FF2B5EF4-FFF2-40B4-BE49-F238E27FC236}">
                  <a16:creationId xmlns:a16="http://schemas.microsoft.com/office/drawing/2014/main" id="{1D463476-2BC7-418C-9D6F-51444B11A7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a:extLst>
                <a:ext uri="{FF2B5EF4-FFF2-40B4-BE49-F238E27FC236}">
                  <a16:creationId xmlns:a16="http://schemas.microsoft.com/office/drawing/2014/main" id="{24011122-2495-478A-81BF-ABBDEA1DA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a:extLst>
                <a:ext uri="{FF2B5EF4-FFF2-40B4-BE49-F238E27FC236}">
                  <a16:creationId xmlns:a16="http://schemas.microsoft.com/office/drawing/2014/main" id="{C79E87C5-E5B3-476B-B539-FC9CF4A33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9" name="Freeform 14">
              <a:extLst>
                <a:ext uri="{FF2B5EF4-FFF2-40B4-BE49-F238E27FC236}">
                  <a16:creationId xmlns:a16="http://schemas.microsoft.com/office/drawing/2014/main" id="{956029CA-2B38-434D-9044-5FF3A1ECD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0" name="Freeform 15">
              <a:extLst>
                <a:ext uri="{FF2B5EF4-FFF2-40B4-BE49-F238E27FC236}">
                  <a16:creationId xmlns:a16="http://schemas.microsoft.com/office/drawing/2014/main" id="{9514CFB6-E8DB-43DC-B1CD-9CC2D4B27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1" name="Freeform 16">
              <a:extLst>
                <a:ext uri="{FF2B5EF4-FFF2-40B4-BE49-F238E27FC236}">
                  <a16:creationId xmlns:a16="http://schemas.microsoft.com/office/drawing/2014/main" id="{BD8C1FC8-E550-45BE-9F30-822BAB378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2" name="Freeform 17">
              <a:extLst>
                <a:ext uri="{FF2B5EF4-FFF2-40B4-BE49-F238E27FC236}">
                  <a16:creationId xmlns:a16="http://schemas.microsoft.com/office/drawing/2014/main" id="{D1646B5D-A7B7-41EC-9591-0E0C0F4F9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a:extLst>
                <a:ext uri="{FF2B5EF4-FFF2-40B4-BE49-F238E27FC236}">
                  <a16:creationId xmlns:a16="http://schemas.microsoft.com/office/drawing/2014/main" id="{E2118E93-481E-4843-987E-378187AA3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a:extLst>
                <a:ext uri="{FF2B5EF4-FFF2-40B4-BE49-F238E27FC236}">
                  <a16:creationId xmlns:a16="http://schemas.microsoft.com/office/drawing/2014/main" id="{77038464-F4E2-47EC-A87F-18469191E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a:extLst>
                <a:ext uri="{FF2B5EF4-FFF2-40B4-BE49-F238E27FC236}">
                  <a16:creationId xmlns:a16="http://schemas.microsoft.com/office/drawing/2014/main" id="{FB3BBEB1-E146-408F-95B7-EE2F269DE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1">
              <a:extLst>
                <a:ext uri="{FF2B5EF4-FFF2-40B4-BE49-F238E27FC236}">
                  <a16:creationId xmlns:a16="http://schemas.microsoft.com/office/drawing/2014/main" id="{C765B285-56EC-47FC-B116-274EBBD61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2">
              <a:extLst>
                <a:ext uri="{FF2B5EF4-FFF2-40B4-BE49-F238E27FC236}">
                  <a16:creationId xmlns:a16="http://schemas.microsoft.com/office/drawing/2014/main" id="{CB4A6191-6913-42EA-905E-8A174AE2C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23">
              <a:extLst>
                <a:ext uri="{FF2B5EF4-FFF2-40B4-BE49-F238E27FC236}">
                  <a16:creationId xmlns:a16="http://schemas.microsoft.com/office/drawing/2014/main" id="{8ADEEF92-F481-475A-845C-5E940F0D5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60" name="Freeform: Shape 59">
            <a:extLst>
              <a:ext uri="{FF2B5EF4-FFF2-40B4-BE49-F238E27FC236}">
                <a16:creationId xmlns:a16="http://schemas.microsoft.com/office/drawing/2014/main" id="{D9C506D7-84CB-4057-A44A-465313E78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2173916" y="2448612"/>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Oval 32">
            <a:extLst>
              <a:ext uri="{FF2B5EF4-FFF2-40B4-BE49-F238E27FC236}">
                <a16:creationId xmlns:a16="http://schemas.microsoft.com/office/drawing/2014/main" id="{7842FC68-61FD-4700-8A22-BB8B07188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4579" y="691977"/>
            <a:ext cx="7761923" cy="5343064"/>
          </a:xfrm>
          <a:custGeom>
            <a:avLst/>
            <a:gdLst>
              <a:gd name="connsiteX0" fmla="*/ 0 w 6428838"/>
              <a:gd name="connsiteY0" fmla="*/ 2579031 h 5158062"/>
              <a:gd name="connsiteX1" fmla="*/ 3214419 w 6428838"/>
              <a:gd name="connsiteY1" fmla="*/ 0 h 5158062"/>
              <a:gd name="connsiteX2" fmla="*/ 6428838 w 6428838"/>
              <a:gd name="connsiteY2" fmla="*/ 2579031 h 5158062"/>
              <a:gd name="connsiteX3" fmla="*/ 3214419 w 6428838"/>
              <a:gd name="connsiteY3" fmla="*/ 5158062 h 5158062"/>
              <a:gd name="connsiteX4" fmla="*/ 0 w 6428838"/>
              <a:gd name="connsiteY4" fmla="*/ 2579031 h 5158062"/>
              <a:gd name="connsiteX0" fmla="*/ 3321 w 6432159"/>
              <a:gd name="connsiteY0" fmla="*/ 2647125 h 5226156"/>
              <a:gd name="connsiteX1" fmla="*/ 2789723 w 6432159"/>
              <a:gd name="connsiteY1" fmla="*/ 0 h 5226156"/>
              <a:gd name="connsiteX2" fmla="*/ 6432159 w 6432159"/>
              <a:gd name="connsiteY2" fmla="*/ 2647125 h 5226156"/>
              <a:gd name="connsiteX3" fmla="*/ 3217740 w 6432159"/>
              <a:gd name="connsiteY3" fmla="*/ 5226156 h 5226156"/>
              <a:gd name="connsiteX4" fmla="*/ 3321 w 6432159"/>
              <a:gd name="connsiteY4" fmla="*/ 2647125 h 5226156"/>
              <a:gd name="connsiteX0" fmla="*/ 1953 w 6566979"/>
              <a:gd name="connsiteY0" fmla="*/ 2695803 h 5226224"/>
              <a:gd name="connsiteX1" fmla="*/ 2924543 w 6566979"/>
              <a:gd name="connsiteY1" fmla="*/ 39 h 5226224"/>
              <a:gd name="connsiteX2" fmla="*/ 6566979 w 6566979"/>
              <a:gd name="connsiteY2" fmla="*/ 2647164 h 5226224"/>
              <a:gd name="connsiteX3" fmla="*/ 3352560 w 6566979"/>
              <a:gd name="connsiteY3" fmla="*/ 5226195 h 5226224"/>
              <a:gd name="connsiteX4" fmla="*/ 1953 w 6566979"/>
              <a:gd name="connsiteY4" fmla="*/ 2695803 h 5226224"/>
              <a:gd name="connsiteX0" fmla="*/ 8982 w 6574008"/>
              <a:gd name="connsiteY0" fmla="*/ 2695803 h 5226313"/>
              <a:gd name="connsiteX1" fmla="*/ 2931572 w 6574008"/>
              <a:gd name="connsiteY1" fmla="*/ 39 h 5226313"/>
              <a:gd name="connsiteX2" fmla="*/ 6574008 w 6574008"/>
              <a:gd name="connsiteY2" fmla="*/ 2647164 h 5226313"/>
              <a:gd name="connsiteX3" fmla="*/ 3359589 w 6574008"/>
              <a:gd name="connsiteY3" fmla="*/ 5226195 h 5226313"/>
              <a:gd name="connsiteX4" fmla="*/ 8982 w 6574008"/>
              <a:gd name="connsiteY4" fmla="*/ 2695803 h 5226313"/>
              <a:gd name="connsiteX0" fmla="*/ 11929 w 6576955"/>
              <a:gd name="connsiteY0" fmla="*/ 2695953 h 5226463"/>
              <a:gd name="connsiteX1" fmla="*/ 2934519 w 6576955"/>
              <a:gd name="connsiteY1" fmla="*/ 189 h 5226463"/>
              <a:gd name="connsiteX2" fmla="*/ 6576955 w 6576955"/>
              <a:gd name="connsiteY2" fmla="*/ 2647314 h 5226463"/>
              <a:gd name="connsiteX3" fmla="*/ 3362536 w 6576955"/>
              <a:gd name="connsiteY3" fmla="*/ 5226345 h 5226463"/>
              <a:gd name="connsiteX4" fmla="*/ 11929 w 6576955"/>
              <a:gd name="connsiteY4" fmla="*/ 2695953 h 5226463"/>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92159"/>
              <a:gd name="connsiteX1" fmla="*/ 2931852 w 6963394"/>
              <a:gd name="connsiteY1" fmla="*/ 10033 h 5292159"/>
              <a:gd name="connsiteX2" fmla="*/ 6963394 w 6963394"/>
              <a:gd name="connsiteY2" fmla="*/ 3318639 h 5292159"/>
              <a:gd name="connsiteX3" fmla="*/ 3359869 w 6963394"/>
              <a:gd name="connsiteY3" fmla="*/ 5236189 h 5292159"/>
              <a:gd name="connsiteX4" fmla="*/ 9262 w 6963394"/>
              <a:gd name="connsiteY4" fmla="*/ 2705797 h 5292159"/>
              <a:gd name="connsiteX0" fmla="*/ 9262 w 6963394"/>
              <a:gd name="connsiteY0" fmla="*/ 2705797 h 5259961"/>
              <a:gd name="connsiteX1" fmla="*/ 2931852 w 6963394"/>
              <a:gd name="connsiteY1" fmla="*/ 10033 h 5259961"/>
              <a:gd name="connsiteX2" fmla="*/ 6963394 w 6963394"/>
              <a:gd name="connsiteY2" fmla="*/ 3318639 h 5259961"/>
              <a:gd name="connsiteX3" fmla="*/ 3359869 w 6963394"/>
              <a:gd name="connsiteY3" fmla="*/ 5236189 h 5259961"/>
              <a:gd name="connsiteX4" fmla="*/ 9262 w 6963394"/>
              <a:gd name="connsiteY4" fmla="*/ 2705797 h 5259961"/>
              <a:gd name="connsiteX0" fmla="*/ 9557 w 7352795"/>
              <a:gd name="connsiteY0" fmla="*/ 2707501 h 5252013"/>
              <a:gd name="connsiteX1" fmla="*/ 2932147 w 7352795"/>
              <a:gd name="connsiteY1" fmla="*/ 11737 h 5252013"/>
              <a:gd name="connsiteX2" fmla="*/ 7352795 w 7352795"/>
              <a:gd name="connsiteY2" fmla="*/ 3378709 h 5252013"/>
              <a:gd name="connsiteX3" fmla="*/ 3360164 w 7352795"/>
              <a:gd name="connsiteY3" fmla="*/ 5237893 h 5252013"/>
              <a:gd name="connsiteX4" fmla="*/ 9557 w 7352795"/>
              <a:gd name="connsiteY4" fmla="*/ 2707501 h 5252013"/>
              <a:gd name="connsiteX0" fmla="*/ 8078 w 7789061"/>
              <a:gd name="connsiteY0" fmla="*/ 2744796 h 5249051"/>
              <a:gd name="connsiteX1" fmla="*/ 3368413 w 7789061"/>
              <a:gd name="connsiteY1" fmla="*/ 10121 h 5249051"/>
              <a:gd name="connsiteX2" fmla="*/ 7789061 w 7789061"/>
              <a:gd name="connsiteY2" fmla="*/ 3377093 h 5249051"/>
              <a:gd name="connsiteX3" fmla="*/ 3796430 w 7789061"/>
              <a:gd name="connsiteY3" fmla="*/ 5236277 h 5249051"/>
              <a:gd name="connsiteX4" fmla="*/ 8078 w 7789061"/>
              <a:gd name="connsiteY4" fmla="*/ 2744796 h 5249051"/>
              <a:gd name="connsiteX0" fmla="*/ 8078 w 7789061"/>
              <a:gd name="connsiteY0" fmla="*/ 2744796 h 5271741"/>
              <a:gd name="connsiteX1" fmla="*/ 3368413 w 7789061"/>
              <a:gd name="connsiteY1" fmla="*/ 10121 h 5271741"/>
              <a:gd name="connsiteX2" fmla="*/ 7789061 w 7789061"/>
              <a:gd name="connsiteY2" fmla="*/ 3377093 h 5271741"/>
              <a:gd name="connsiteX3" fmla="*/ 3796430 w 7789061"/>
              <a:gd name="connsiteY3" fmla="*/ 5236277 h 5271741"/>
              <a:gd name="connsiteX4" fmla="*/ 8078 w 7789061"/>
              <a:gd name="connsiteY4" fmla="*/ 2744796 h 5271741"/>
              <a:gd name="connsiteX0" fmla="*/ 1055 w 7782038"/>
              <a:gd name="connsiteY0" fmla="*/ 2738806 h 5438018"/>
              <a:gd name="connsiteX1" fmla="*/ 3361390 w 7782038"/>
              <a:gd name="connsiteY1" fmla="*/ 4131 h 5438018"/>
              <a:gd name="connsiteX2" fmla="*/ 7782038 w 7782038"/>
              <a:gd name="connsiteY2" fmla="*/ 3371103 h 5438018"/>
              <a:gd name="connsiteX3" fmla="*/ 3692130 w 7782038"/>
              <a:gd name="connsiteY3" fmla="*/ 5415113 h 5438018"/>
              <a:gd name="connsiteX4" fmla="*/ 1055 w 7782038"/>
              <a:gd name="connsiteY4" fmla="*/ 2738806 h 5438018"/>
              <a:gd name="connsiteX0" fmla="*/ 28883 w 7809866"/>
              <a:gd name="connsiteY0" fmla="*/ 2742147 h 5441359"/>
              <a:gd name="connsiteX1" fmla="*/ 3389218 w 7809866"/>
              <a:gd name="connsiteY1" fmla="*/ 7472 h 5441359"/>
              <a:gd name="connsiteX2" fmla="*/ 7809866 w 7809866"/>
              <a:gd name="connsiteY2" fmla="*/ 3374444 h 5441359"/>
              <a:gd name="connsiteX3" fmla="*/ 3719958 w 7809866"/>
              <a:gd name="connsiteY3" fmla="*/ 5418454 h 5441359"/>
              <a:gd name="connsiteX4" fmla="*/ 28883 w 7809866"/>
              <a:gd name="connsiteY4" fmla="*/ 2742147 h 5441359"/>
              <a:gd name="connsiteX0" fmla="*/ 36549 w 7817532"/>
              <a:gd name="connsiteY0" fmla="*/ 2751085 h 5450297"/>
              <a:gd name="connsiteX1" fmla="*/ 3396884 w 7817532"/>
              <a:gd name="connsiteY1" fmla="*/ 16410 h 5450297"/>
              <a:gd name="connsiteX2" fmla="*/ 7817532 w 7817532"/>
              <a:gd name="connsiteY2" fmla="*/ 3383382 h 5450297"/>
              <a:gd name="connsiteX3" fmla="*/ 3727624 w 7817532"/>
              <a:gd name="connsiteY3" fmla="*/ 5427392 h 5450297"/>
              <a:gd name="connsiteX4" fmla="*/ 36549 w 7817532"/>
              <a:gd name="connsiteY4" fmla="*/ 2751085 h 5450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32" h="5450297">
                <a:moveTo>
                  <a:pt x="36549" y="2751085"/>
                </a:moveTo>
                <a:cubicBezTo>
                  <a:pt x="-281221" y="925127"/>
                  <a:pt x="1526121" y="-147339"/>
                  <a:pt x="3396884" y="16410"/>
                </a:cubicBezTo>
                <a:cubicBezTo>
                  <a:pt x="5267647" y="180159"/>
                  <a:pt x="7817532" y="1453184"/>
                  <a:pt x="7817532" y="3383382"/>
                </a:cubicBezTo>
                <a:cubicBezTo>
                  <a:pt x="7700800" y="5342763"/>
                  <a:pt x="5024455" y="5532775"/>
                  <a:pt x="3727624" y="5427392"/>
                </a:cubicBezTo>
                <a:cubicBezTo>
                  <a:pt x="2430794" y="5322009"/>
                  <a:pt x="354319" y="4577043"/>
                  <a:pt x="36549" y="2751085"/>
                </a:cubicBezTo>
                <a:close/>
              </a:path>
            </a:pathLst>
          </a:custGeom>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1B21CAB-D38C-40A2-A45C-6F4AE5677D26}"/>
              </a:ext>
            </a:extLst>
          </p:cNvPr>
          <p:cNvSpPr>
            <a:spLocks noGrp="1"/>
          </p:cNvSpPr>
          <p:nvPr>
            <p:ph type="title"/>
          </p:nvPr>
        </p:nvSpPr>
        <p:spPr>
          <a:xfrm>
            <a:off x="2616277" y="2061838"/>
            <a:ext cx="6959446" cy="1662475"/>
          </a:xfrm>
        </p:spPr>
        <p:txBody>
          <a:bodyPr vert="horz" lIns="228600" tIns="228600" rIns="228600" bIns="0" rtlCol="0" anchor="b">
            <a:normAutofit/>
          </a:bodyPr>
          <a:lstStyle/>
          <a:p>
            <a:pPr>
              <a:lnSpc>
                <a:spcPct val="80000"/>
              </a:lnSpc>
            </a:pPr>
            <a:r>
              <a:rPr lang="en-US" sz="4800"/>
              <a:t>Up Next</a:t>
            </a:r>
          </a:p>
        </p:txBody>
      </p:sp>
      <p:sp>
        <p:nvSpPr>
          <p:cNvPr id="6" name="Content Placeholder 5">
            <a:extLst>
              <a:ext uri="{FF2B5EF4-FFF2-40B4-BE49-F238E27FC236}">
                <a16:creationId xmlns:a16="http://schemas.microsoft.com/office/drawing/2014/main" id="{12DAC313-AF42-46D7-9D95-E455473CEBE3}"/>
              </a:ext>
            </a:extLst>
          </p:cNvPr>
          <p:cNvSpPr>
            <a:spLocks noGrp="1"/>
          </p:cNvSpPr>
          <p:nvPr>
            <p:ph idx="1"/>
          </p:nvPr>
        </p:nvSpPr>
        <p:spPr>
          <a:xfrm>
            <a:off x="3388938" y="3783690"/>
            <a:ext cx="5414125" cy="1196717"/>
          </a:xfrm>
        </p:spPr>
        <p:txBody>
          <a:bodyPr vert="horz" lIns="91440" tIns="0" rIns="91440" bIns="45720" rtlCol="0">
            <a:normAutofit/>
          </a:bodyPr>
          <a:lstStyle/>
          <a:p>
            <a:pPr marL="0" indent="0" algn="ctr">
              <a:lnSpc>
                <a:spcPct val="100000"/>
              </a:lnSpc>
              <a:buNone/>
            </a:pPr>
            <a:r>
              <a:rPr lang="en-US" sz="2000">
                <a:solidFill>
                  <a:srgbClr val="FFFEFF"/>
                </a:solidFill>
              </a:rPr>
              <a:t>Checking for Origin Overlap.</a:t>
            </a:r>
          </a:p>
        </p:txBody>
      </p:sp>
    </p:spTree>
    <p:extLst>
      <p:ext uri="{BB962C8B-B14F-4D97-AF65-F5344CB8AC3E}">
        <p14:creationId xmlns:p14="http://schemas.microsoft.com/office/powerpoint/2010/main" val="1037329911"/>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3"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0" name="Group 29">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3" y="1186483"/>
            <a:ext cx="8848345" cy="4477933"/>
            <a:chOff x="1669293" y="1186483"/>
            <a:chExt cx="8848345" cy="4477933"/>
          </a:xfrm>
        </p:grpSpPr>
        <p:sp>
          <p:nvSpPr>
            <p:cNvPr id="31" name="Rectangle 30">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31">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5" name="Rectangle 34">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 y="6419"/>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a:noFill/>
        </p:grpSpPr>
        <p:sp>
          <p:nvSpPr>
            <p:cNvPr id="38"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7000"/>
                </a:schemeClr>
              </a:solidFill>
              <a:prstDash val="solid"/>
              <a:miter lim="800000"/>
              <a:headEnd/>
              <a:tailEnd/>
            </a:ln>
            <a:extLst/>
          </p:spPr>
        </p:sp>
        <p:sp>
          <p:nvSpPr>
            <p:cNvPr id="39"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p:spPr>
        </p:sp>
        <p:sp>
          <p:nvSpPr>
            <p:cNvPr id="40"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8000"/>
                </a:schemeClr>
              </a:solidFill>
              <a:prstDash val="dash"/>
              <a:miter lim="800000"/>
              <a:headEnd/>
              <a:tailEnd/>
            </a:ln>
            <a:extLst/>
          </p:spPr>
        </p:sp>
        <p:sp>
          <p:nvSpPr>
            <p:cNvPr id="41"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5000"/>
                </a:schemeClr>
              </a:solidFill>
              <a:prstDash val="solid"/>
              <a:miter lim="800000"/>
              <a:headEnd/>
              <a:tailEnd/>
            </a:ln>
            <a:extLst/>
          </p:spPr>
        </p:sp>
        <p:sp>
          <p:nvSpPr>
            <p:cNvPr id="42"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5000"/>
                </a:schemeClr>
              </a:solidFill>
              <a:prstDash val="solid"/>
              <a:miter lim="800000"/>
              <a:headEnd/>
              <a:tailEnd/>
            </a:ln>
            <a:extLst/>
          </p:spPr>
        </p:sp>
        <p:sp>
          <p:nvSpPr>
            <p:cNvPr id="43"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4000"/>
                </a:schemeClr>
              </a:solidFill>
              <a:prstDash val="solid"/>
              <a:miter lim="800000"/>
              <a:headEnd/>
              <a:tailEnd/>
            </a:ln>
            <a:extLst/>
          </p:spPr>
        </p:sp>
        <p:sp>
          <p:nvSpPr>
            <p:cNvPr id="44"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3000"/>
                </a:schemeClr>
              </a:solidFill>
              <a:prstDash val="solid"/>
              <a:miter lim="800000"/>
              <a:headEnd/>
              <a:tailEnd/>
            </a:ln>
            <a:extLst/>
          </p:spPr>
        </p:sp>
        <p:sp>
          <p:nvSpPr>
            <p:cNvPr id="45"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3000"/>
                </a:schemeClr>
              </a:solidFill>
              <a:prstDash val="solid"/>
              <a:miter lim="800000"/>
              <a:headEnd/>
              <a:tailEnd/>
            </a:ln>
            <a:extLst/>
          </p:spPr>
        </p:sp>
        <p:sp>
          <p:nvSpPr>
            <p:cNvPr id="46"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2000"/>
                </a:schemeClr>
              </a:solidFill>
              <a:prstDash val="dash"/>
              <a:miter lim="800000"/>
              <a:headEnd/>
              <a:tailEnd/>
            </a:ln>
            <a:extLst/>
          </p:spPr>
        </p:sp>
        <p:sp>
          <p:nvSpPr>
            <p:cNvPr id="47"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2000"/>
                </a:schemeClr>
              </a:solidFill>
              <a:prstDash val="dash"/>
              <a:miter lim="800000"/>
              <a:headEnd/>
              <a:tailEnd/>
            </a:ln>
            <a:extLst/>
          </p:spPr>
        </p:sp>
        <p:sp>
          <p:nvSpPr>
            <p:cNvPr id="48"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2000"/>
                </a:schemeClr>
              </a:solidFill>
              <a:prstDash val="dashDot"/>
              <a:miter lim="800000"/>
              <a:headEnd/>
              <a:tailEnd/>
            </a:ln>
            <a:extLst/>
          </p:spPr>
        </p:sp>
        <p:sp>
          <p:nvSpPr>
            <p:cNvPr id="49"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2000"/>
                </a:schemeClr>
              </a:solidFill>
              <a:prstDash val="dashDot"/>
              <a:miter lim="800000"/>
              <a:headEnd/>
              <a:tailEnd/>
            </a:ln>
            <a:extLst/>
          </p:spPr>
        </p:sp>
        <p:sp>
          <p:nvSpPr>
            <p:cNvPr id="50"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2000"/>
                </a:schemeClr>
              </a:solidFill>
              <a:prstDash val="solid"/>
              <a:miter lim="800000"/>
              <a:headEnd/>
              <a:tailEnd/>
            </a:ln>
            <a:extLst/>
          </p:spPr>
        </p:sp>
        <p:sp>
          <p:nvSpPr>
            <p:cNvPr id="51"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2000"/>
                </a:schemeClr>
              </a:solidFill>
              <a:prstDash val="solid"/>
              <a:miter lim="800000"/>
              <a:headEnd/>
              <a:tailEnd/>
            </a:ln>
            <a:extLst/>
          </p:spPr>
        </p:sp>
        <p:sp>
          <p:nvSpPr>
            <p:cNvPr id="52"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1000"/>
                </a:schemeClr>
              </a:solidFill>
              <a:prstDash val="solid"/>
              <a:miter lim="800000"/>
              <a:headEnd/>
              <a:tailEnd/>
            </a:ln>
            <a:extLst/>
          </p:spPr>
        </p:sp>
        <p:sp>
          <p:nvSpPr>
            <p:cNvPr id="53"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1000"/>
                </a:schemeClr>
              </a:solidFill>
              <a:prstDash val="solid"/>
              <a:miter lim="800000"/>
              <a:headEnd/>
              <a:tailEnd/>
            </a:ln>
            <a:extLst/>
          </p:spPr>
        </p:sp>
        <p:sp>
          <p:nvSpPr>
            <p:cNvPr id="54"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a:extLst/>
          </p:spPr>
        </p:sp>
        <p:sp>
          <p:nvSpPr>
            <p:cNvPr id="55"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a:extLst/>
          </p:spPr>
        </p:sp>
        <p:sp>
          <p:nvSpPr>
            <p:cNvPr id="56"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a:extLst/>
          </p:spPr>
        </p:sp>
      </p:grpSp>
      <p:sp>
        <p:nvSpPr>
          <p:cNvPr id="2" name="Title 1">
            <a:extLst>
              <a:ext uri="{FF2B5EF4-FFF2-40B4-BE49-F238E27FC236}">
                <a16:creationId xmlns:a16="http://schemas.microsoft.com/office/drawing/2014/main" id="{C9077FA2-385D-4B0F-A35D-300BAE4CE042}"/>
              </a:ext>
            </a:extLst>
          </p:cNvPr>
          <p:cNvSpPr>
            <a:spLocks noGrp="1"/>
          </p:cNvSpPr>
          <p:nvPr>
            <p:ph type="title"/>
          </p:nvPr>
        </p:nvSpPr>
        <p:spPr>
          <a:xfrm>
            <a:off x="2004716" y="1263404"/>
            <a:ext cx="8239252" cy="3115075"/>
          </a:xfrm>
        </p:spPr>
        <p:txBody>
          <a:bodyPr vert="horz" lIns="228600" tIns="228600" rIns="228600" bIns="0" rtlCol="0" anchor="b">
            <a:normAutofit/>
          </a:bodyPr>
          <a:lstStyle/>
          <a:p>
            <a:pPr algn="l">
              <a:lnSpc>
                <a:spcPct val="80000"/>
              </a:lnSpc>
            </a:pPr>
            <a:r>
              <a:rPr lang="en-US" sz="7200">
                <a:solidFill>
                  <a:schemeClr val="tx1"/>
                </a:solidFill>
              </a:rPr>
              <a:t>Fin</a:t>
            </a:r>
          </a:p>
        </p:txBody>
      </p:sp>
      <p:sp>
        <p:nvSpPr>
          <p:cNvPr id="4" name="Text Placeholder 3">
            <a:extLst>
              <a:ext uri="{FF2B5EF4-FFF2-40B4-BE49-F238E27FC236}">
                <a16:creationId xmlns:a16="http://schemas.microsoft.com/office/drawing/2014/main" id="{0D81CD38-8358-46BD-9F6C-81764A3904B0}"/>
              </a:ext>
            </a:extLst>
          </p:cNvPr>
          <p:cNvSpPr>
            <a:spLocks noGrp="1"/>
          </p:cNvSpPr>
          <p:nvPr>
            <p:ph type="body" idx="1"/>
          </p:nvPr>
        </p:nvSpPr>
        <p:spPr>
          <a:xfrm>
            <a:off x="2004716" y="4560432"/>
            <a:ext cx="8239253" cy="1228171"/>
          </a:xfrm>
        </p:spPr>
        <p:txBody>
          <a:bodyPr vert="horz" lIns="91440" tIns="0" rIns="91440" bIns="45720" rtlCol="0">
            <a:normAutofit/>
          </a:bodyPr>
          <a:lstStyle/>
          <a:p>
            <a:pPr algn="l">
              <a:lnSpc>
                <a:spcPct val="100000"/>
              </a:lnSpc>
            </a:pPr>
            <a:endParaRPr lang="en-US" sz="2400">
              <a:solidFill>
                <a:schemeClr val="tx1"/>
              </a:solidFill>
            </a:endParaRPr>
          </a:p>
        </p:txBody>
      </p:sp>
      <p:sp>
        <p:nvSpPr>
          <p:cNvPr id="58" name="Isosceles Triangle 57">
            <a:extLst>
              <a:ext uri="{FF2B5EF4-FFF2-40B4-BE49-F238E27FC236}">
                <a16:creationId xmlns:a16="http://schemas.microsoft.com/office/drawing/2014/main" id="{A4CD35EF-7348-4E64-8700-827E64EA4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35823" y="3320139"/>
            <a:ext cx="300774" cy="25928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solidFill>
                <a:schemeClr val="tx1"/>
              </a:solidFill>
            </a:endParaRPr>
          </a:p>
        </p:txBody>
      </p:sp>
    </p:spTree>
    <p:extLst>
      <p:ext uri="{BB962C8B-B14F-4D97-AF65-F5344CB8AC3E}">
        <p14:creationId xmlns:p14="http://schemas.microsoft.com/office/powerpoint/2010/main" val="465326492"/>
      </p:ext>
    </p:extLst>
  </p:cSld>
  <p:clrMapOvr>
    <a:overrideClrMapping bg1="dk1" tx1="lt1" bg2="dk2" tx2="lt2" accent1="accent1" accent2="accent2" accent3="accent3" accent4="accent4" accent5="accent5" accent6="accent6" hlink="hlink" folHlink="folHlink"/>
  </p:clrMapOvr>
  <p:transition spd="slow">
    <p:push dir="u"/>
  </p:transition>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otalTime>5</TotalTime>
  <Words>866</Words>
  <Application>Microsoft Office PowerPoint</Application>
  <PresentationFormat>Widescreen</PresentationFormat>
  <Paragraphs>131</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 Light</vt:lpstr>
      <vt:lpstr>Rockwell</vt:lpstr>
      <vt:lpstr>Wingdings</vt:lpstr>
      <vt:lpstr>Atlas</vt:lpstr>
      <vt:lpstr>GJK Support Function</vt:lpstr>
      <vt:lpstr>Overview</vt:lpstr>
      <vt:lpstr>Support Points</vt:lpstr>
      <vt:lpstr>Support Points</vt:lpstr>
      <vt:lpstr>Support Function</vt:lpstr>
      <vt:lpstr>Support Function</vt:lpstr>
      <vt:lpstr>Visualisation</vt:lpstr>
      <vt:lpstr>Visualisation</vt:lpstr>
      <vt:lpstr>Visualisation</vt:lpstr>
      <vt:lpstr>Visualisation</vt:lpstr>
      <vt:lpstr>Visualisation</vt:lpstr>
      <vt:lpstr>Visualisation</vt:lpstr>
      <vt:lpstr>Visualisation</vt:lpstr>
      <vt:lpstr>Building a Simplex</vt:lpstr>
      <vt:lpstr>Steps</vt:lpstr>
      <vt:lpstr>Step 1 Pick a direction</vt:lpstr>
      <vt:lpstr>Step 2 Find a Support Point</vt:lpstr>
      <vt:lpstr>Step 3 Generate the Simplex</vt:lpstr>
      <vt:lpstr>Step 4.1 Find a Support Point</vt:lpstr>
      <vt:lpstr>Step 4.2 Add it to the Simplex</vt:lpstr>
      <vt:lpstr>Step 4.3 Process the Simplex</vt:lpstr>
      <vt:lpstr>Process the Simplex</vt:lpstr>
      <vt:lpstr>Process a Line</vt:lpstr>
      <vt:lpstr>Process a Line</vt:lpstr>
      <vt:lpstr>Process a Triangle</vt:lpstr>
      <vt:lpstr>Process a Tetrahedron</vt:lpstr>
      <vt:lpstr>Process a Tetrahedron</vt:lpstr>
      <vt:lpstr>Process a Tetrahedron</vt:lpstr>
      <vt:lpstr>Process a Tetrahedron</vt:lpstr>
      <vt:lpstr>Process a Tetrahedron</vt:lpstr>
      <vt:lpstr>Up Next</vt:lpstr>
      <vt:lpstr>Fin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GJK Support Function</dc:title>
  <dc:creator>Aidan Dearing</dc:creator>
  <cp:lastModifiedBy>Aidan Dearing</cp:lastModifiedBy>
  <cp:revision>1</cp:revision>
  <dcterms:created xsi:type="dcterms:W3CDTF">2019-03-01T16:19:00Z</dcterms:created>
  <dcterms:modified xsi:type="dcterms:W3CDTF">2019-03-01T16:24:29Z</dcterms:modified>
</cp:coreProperties>
</file>