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55D20-68BC-4984-848F-860A306B50E3}" v="1" dt="2019-01-25T16:38:42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Dearing" userId="549f97a1b1354368" providerId="LiveId" clId="{C3D55D20-68BC-4984-848F-860A306B50E3}"/>
    <pc:docChg chg="modSld">
      <pc:chgData name="Aidan Dearing" userId="549f97a1b1354368" providerId="LiveId" clId="{C3D55D20-68BC-4984-848F-860A306B50E3}" dt="2019-01-25T16:38:42.347" v="0"/>
      <pc:docMkLst>
        <pc:docMk/>
      </pc:docMkLst>
      <pc:sldChg chg="modTransition">
        <pc:chgData name="Aidan Dearing" userId="549f97a1b1354368" providerId="LiveId" clId="{C3D55D20-68BC-4984-848F-860A306B50E3}" dt="2019-01-25T16:38:42.347" v="0"/>
        <pc:sldMkLst>
          <pc:docMk/>
          <pc:sldMk cId="2369352824" sldId="257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3921183257" sldId="258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2829148110" sldId="259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2907779715" sldId="260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2359846561" sldId="261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1498116121" sldId="262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37353471" sldId="263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2031322979" sldId="264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4107504616" sldId="265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2832809596" sldId="266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664930553" sldId="267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3416749333" sldId="268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638395032" sldId="269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2383004134" sldId="270"/>
        </pc:sldMkLst>
      </pc:sldChg>
      <pc:sldChg chg="modTransition">
        <pc:chgData name="Aidan Dearing" userId="549f97a1b1354368" providerId="LiveId" clId="{C3D55D20-68BC-4984-848F-860A306B50E3}" dt="2019-01-25T16:38:42.347" v="0"/>
        <pc:sldMkLst>
          <pc:docMk/>
          <pc:sldMk cId="499968079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2773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608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282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039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4944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631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2064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9872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589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3188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741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F7693D1-1D37-4B72-AD3E-785B7078CA44}" type="datetimeFigureOut">
              <a:rPr lang="en-CA" smtClean="0"/>
              <a:t>2019-01-25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AAE5A34-74E9-4734-9FA2-F09E6A1BA3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68338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05199DC7-A76E-4D53-978D-FE9964B4E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84DED6C1-4644-4EF9-95B6-C79E5FFEE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059012"/>
            <a:ext cx="12188952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DECD8-91C5-4670-82AE-A2600E35F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>
            <a:normAutofit/>
          </a:bodyPr>
          <a:lstStyle/>
          <a:p>
            <a:r>
              <a:rPr lang="en-CA" dirty="0"/>
              <a:t>Orientation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BCC6A-5314-435A-8C30-66C448B25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/>
          <a:p>
            <a:r>
              <a:rPr lang="en-CA" dirty="0"/>
              <a:t>GAME 256</a:t>
            </a:r>
          </a:p>
        </p:txBody>
      </p:sp>
    </p:spTree>
    <p:extLst>
      <p:ext uri="{BB962C8B-B14F-4D97-AF65-F5344CB8AC3E}">
        <p14:creationId xmlns:p14="http://schemas.microsoft.com/office/powerpoint/2010/main" val="2470955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A2702-A81B-4D06-9588-8C8221212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200">
                <a:solidFill>
                  <a:schemeClr val="tx1"/>
                </a:solidFill>
              </a:rPr>
              <a:t>Orientation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9F8D4-DD44-4B6A-84D4-D6C2917E6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668" y="1126067"/>
            <a:ext cx="6605331" cy="4605866"/>
          </a:xfrm>
        </p:spPr>
        <p:txBody>
          <a:bodyPr anchor="ctr">
            <a:normAutofit/>
          </a:bodyPr>
          <a:lstStyle/>
          <a:p>
            <a:r>
              <a:rPr lang="en-CA" sz="1800" dirty="0"/>
              <a:t>Matrices</a:t>
            </a:r>
          </a:p>
          <a:p>
            <a:r>
              <a:rPr lang="en-CA" sz="1800" dirty="0"/>
              <a:t>Euler Angles</a:t>
            </a:r>
          </a:p>
          <a:p>
            <a:r>
              <a:rPr lang="en-CA" sz="1800" dirty="0"/>
              <a:t>Quaternions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69352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4F55B-37CF-418F-A30A-24F15D707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200">
                <a:solidFill>
                  <a:schemeClr val="tx1"/>
                </a:solidFill>
              </a:rPr>
              <a:t>Matrices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8D1A5B-24CC-4276-A8E2-5C03C4ACC9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0.657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−0.581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−0.480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0.450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0.826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−0.338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0.585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0.000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0.810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1800"/>
              </a:p>
              <a:p>
                <a:r>
                  <a:rPr lang="en-CA" sz="1800"/>
                  <a:t>A matrix is a rectangular array containing numeric values, or something that can be used to derive a numeric value (</a:t>
                </a:r>
                <a:r>
                  <a:rPr lang="en-CA" sz="1800" b="1"/>
                  <a:t>expressions, symbols, etc.</a:t>
                </a:r>
                <a:r>
                  <a:rPr lang="en-CA" sz="1800"/>
                  <a:t>)</a:t>
                </a:r>
              </a:p>
              <a:p>
                <a:endParaRPr lang="en-CA" sz="18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8D1A5B-24CC-4276-A8E2-5C03C4ACC9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  <a:blipFill>
                <a:blip r:embed="rId2"/>
                <a:stretch>
                  <a:fillRect l="-64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21183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87C73-8F3F-4748-A8EC-7026FE3E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200" dirty="0">
                <a:solidFill>
                  <a:schemeClr val="tx1"/>
                </a:solidFill>
              </a:rPr>
              <a:t>Addition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5F661B-15F7-4C38-A7F7-972143289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1+0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0+1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0+1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1+0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1800" dirty="0"/>
              </a:p>
              <a:p>
                <a:pPr marL="0" indent="0">
                  <a:buNone/>
                </a:pPr>
                <a:endParaRPr lang="en-CA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1−0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0−1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1−0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1800" dirty="0"/>
              </a:p>
              <a:p>
                <a:endParaRPr lang="en-CA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5F661B-15F7-4C38-A7F7-972143289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9148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68F3E8-F86F-4835-8216-1949DEA13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000" dirty="0">
                <a:solidFill>
                  <a:schemeClr val="tx1"/>
                </a:solidFill>
              </a:rPr>
              <a:t>Multiplication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AF5613-83B3-4B32-8BD0-09FFA4E8A7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𝑎𝑧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𝑏𝑥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𝑐𝑣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𝑎𝑦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𝑏𝑤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𝑐𝑢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𝑑𝑧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𝑑𝑣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𝑒𝑤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𝑓𝑢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1800" dirty="0"/>
              </a:p>
              <a:p>
                <a:pPr marL="0" indent="0">
                  <a:buNone/>
                </a:pPr>
                <a:endParaRPr lang="en-CA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𝑧𝑎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𝑦𝑑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𝑧𝑏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𝑦𝑒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𝑧𝑐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𝑦𝑓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𝑥𝑎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𝑤𝑑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𝑥𝑏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𝑤𝑒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𝑥𝑐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𝑤𝑓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𝑣𝑎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𝑢𝑑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𝑣𝑏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𝑢𝑒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𝑣𝑐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𝑢𝑓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AF5613-83B3-4B32-8BD0-09FFA4E8A7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7779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E31D9-97D8-403D-8FF9-04BCE065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000" dirty="0">
                <a:solidFill>
                  <a:schemeClr val="tx1"/>
                </a:solidFill>
              </a:rPr>
              <a:t>Advantages &amp; Disadvantages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BE93D-837E-4B29-9F3F-E951E6CCA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668" y="1126067"/>
            <a:ext cx="6605331" cy="4605866"/>
          </a:xfrm>
        </p:spPr>
        <p:txBody>
          <a:bodyPr anchor="ctr">
            <a:normAutofit/>
          </a:bodyPr>
          <a:lstStyle/>
          <a:p>
            <a:r>
              <a:rPr lang="en-CA" sz="1800"/>
              <a:t>Advantages</a:t>
            </a:r>
          </a:p>
          <a:p>
            <a:pPr lvl="1"/>
            <a:r>
              <a:rPr lang="en-CA" sz="1800"/>
              <a:t>Can immediately rotate vectors between object and world space.</a:t>
            </a:r>
          </a:p>
          <a:p>
            <a:pPr lvl="1"/>
            <a:r>
              <a:rPr lang="en-CA" sz="1800"/>
              <a:t>Used by Graphics APIs (OpenGL, DirectX).</a:t>
            </a:r>
          </a:p>
          <a:p>
            <a:pPr lvl="1"/>
            <a:r>
              <a:rPr lang="en-CA" sz="1800"/>
              <a:t>Can collapse nested coordinate space relationships via matrix multiplication.</a:t>
            </a:r>
          </a:p>
          <a:p>
            <a:r>
              <a:rPr lang="en-CA" sz="1800"/>
              <a:t>Disadvantages</a:t>
            </a:r>
          </a:p>
          <a:p>
            <a:pPr lvl="1"/>
            <a:r>
              <a:rPr lang="en-CA" sz="1800"/>
              <a:t>Needs 9 numbers.</a:t>
            </a:r>
          </a:p>
          <a:p>
            <a:pPr lvl="1"/>
            <a:r>
              <a:rPr lang="en-CA" sz="1800"/>
              <a:t>Difficult to read.</a:t>
            </a:r>
          </a:p>
          <a:p>
            <a:pPr lvl="1"/>
            <a:r>
              <a:rPr lang="en-CA" sz="1800"/>
              <a:t>Can be malformed (rounding errors, non-orthogonality).</a:t>
            </a:r>
          </a:p>
          <a:p>
            <a:pPr lvl="1"/>
            <a:r>
              <a:rPr lang="en-CA" sz="1800"/>
              <a:t>Have to worry about handedness</a:t>
            </a:r>
          </a:p>
          <a:p>
            <a:pPr lvl="2"/>
            <a:r>
              <a:rPr lang="en-CA"/>
              <a:t>OpenGL right handed*</a:t>
            </a:r>
          </a:p>
          <a:p>
            <a:pPr lvl="2"/>
            <a:r>
              <a:rPr lang="en-CA"/>
              <a:t>DirectX left handed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59846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7ABFB-13A4-4FC2-9BA5-F6B9106DB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200">
                <a:solidFill>
                  <a:schemeClr val="tx1"/>
                </a:solidFill>
              </a:rPr>
              <a:t>Euler Angles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3B85DB-0A93-455B-8AC5-61DE136AB2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𝑝𝑖𝑡𝑐h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𝑟𝑜𝑙𝑙</m:t>
                                </m:r>
                              </m:e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𝑦𝑎𝑤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1800" dirty="0"/>
              </a:p>
              <a:p>
                <a:r>
                  <a:rPr lang="en-CA" sz="1800" dirty="0"/>
                  <a:t>Euler angles describe the orientation of a rigid body as rotations about the axes of a coordinate system.</a:t>
                </a:r>
              </a:p>
              <a:p>
                <a:endParaRPr lang="en-CA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3B85DB-0A93-455B-8AC5-61DE136AB2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  <a:blipFill>
                <a:blip r:embed="rId2"/>
                <a:stretch>
                  <a:fillRect l="-64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98116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29071-11BB-4E85-9B12-AF5F5C1D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000" dirty="0">
                <a:solidFill>
                  <a:schemeClr val="tx1"/>
                </a:solidFill>
              </a:rPr>
              <a:t>Advantages &amp; Disadvantages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69259-167D-4E27-9A11-45AA78813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668" y="1126067"/>
            <a:ext cx="6605331" cy="4605866"/>
          </a:xfrm>
        </p:spPr>
        <p:txBody>
          <a:bodyPr anchor="ctr">
            <a:normAutofit/>
          </a:bodyPr>
          <a:lstStyle/>
          <a:p>
            <a:r>
              <a:rPr lang="en-CA" sz="1800" dirty="0"/>
              <a:t>Advantages</a:t>
            </a:r>
          </a:p>
          <a:p>
            <a:pPr lvl="1"/>
            <a:r>
              <a:rPr lang="en-CA" sz="1800" dirty="0"/>
              <a:t>Much easier to use, compared to matrices and quaternions.</a:t>
            </a:r>
          </a:p>
          <a:p>
            <a:pPr lvl="1"/>
            <a:r>
              <a:rPr lang="en-CA" sz="1800" dirty="0"/>
              <a:t>Only 3 numbers are needed.</a:t>
            </a:r>
          </a:p>
          <a:p>
            <a:pPr lvl="1"/>
            <a:r>
              <a:rPr lang="en-CA" sz="1800" dirty="0"/>
              <a:t>Any 3 numbers are a valid orientation.</a:t>
            </a:r>
          </a:p>
          <a:p>
            <a:r>
              <a:rPr lang="en-CA" sz="1800" dirty="0"/>
              <a:t>Disadvantages</a:t>
            </a:r>
          </a:p>
          <a:p>
            <a:pPr lvl="1"/>
            <a:r>
              <a:rPr lang="en-CA" sz="1800" dirty="0"/>
              <a:t>Any given angle has a set of Euler angles that can represent it.</a:t>
            </a:r>
          </a:p>
          <a:p>
            <a:pPr lvl="2"/>
            <a:r>
              <a:rPr lang="en-CA" dirty="0"/>
              <a:t>Add 360°.</a:t>
            </a:r>
          </a:p>
          <a:p>
            <a:pPr lvl="2"/>
            <a:r>
              <a:rPr lang="en-CA" dirty="0"/>
              <a:t>Angles are not independent.</a:t>
            </a:r>
          </a:p>
          <a:p>
            <a:pPr lvl="1"/>
            <a:r>
              <a:rPr lang="en-CA" sz="1800" dirty="0"/>
              <a:t>Interpolating between angles is difficult. </a:t>
            </a:r>
            <a:r>
              <a:rPr lang="en-CA" sz="1800" b="1" dirty="0"/>
              <a:t>GIMBAL LOCK</a:t>
            </a:r>
            <a:r>
              <a:rPr lang="en-CA" sz="1800" dirty="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353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048AC-3662-4B8B-8ACB-84C0B825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200" dirty="0">
                <a:solidFill>
                  <a:schemeClr val="tx1"/>
                </a:solidFill>
              </a:rPr>
              <a:t>Quaternions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B73051-04EE-4E6F-B439-42D345663B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CA" sz="1800" dirty="0"/>
              </a:p>
              <a:p>
                <a:r>
                  <a:rPr lang="en-CA" sz="1800" dirty="0"/>
                  <a:t>To construct a quaternion that rotates about an arbitrary axis </a:t>
                </a:r>
                <a:r>
                  <a:rPr lang="en-CA" sz="1800" b="1" dirty="0"/>
                  <a:t>A</a:t>
                </a:r>
                <a:r>
                  <a:rPr lang="en-CA" sz="1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𝑐𝑜𝑠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CA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18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𝑠𝑖𝑛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CA" sz="1800" dirty="0"/>
              </a:p>
              <a:p>
                <a:r>
                  <a:rPr lang="en-CA" sz="1800" dirty="0"/>
                  <a:t>Quaternions are a number system that makes use of complex numbers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A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CA" sz="1800" dirty="0"/>
                  <a:t>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CA" sz="18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CA" sz="1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A" sz="1800" b="1" i="1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CA" sz="1800" b="1" i="1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CA" sz="1800" dirty="0"/>
              </a:p>
              <a:p>
                <a:r>
                  <a:rPr lang="en-CA" sz="1800" dirty="0"/>
                  <a:t>Where </a:t>
                </a:r>
                <a:r>
                  <a:rPr lang="en-CA" sz="1800" b="1" dirty="0" err="1"/>
                  <a:t>i</a:t>
                </a:r>
                <a:r>
                  <a:rPr lang="en-CA" sz="1800" b="1" dirty="0"/>
                  <a:t>, j, </a:t>
                </a:r>
                <a:r>
                  <a:rPr lang="en-CA" sz="1800" dirty="0"/>
                  <a:t>and </a:t>
                </a:r>
                <a:r>
                  <a:rPr lang="en-CA" sz="1800" b="1" dirty="0"/>
                  <a:t>k,</a:t>
                </a:r>
                <a:r>
                  <a:rPr lang="en-CA" sz="1800" dirty="0"/>
                  <a:t> are all fundamental quaternion units.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B73051-04EE-4E6F-B439-42D345663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  <a:blipFill>
                <a:blip r:embed="rId2"/>
                <a:stretch>
                  <a:fillRect l="-64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31322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23F0A-6645-48C1-9865-385968E3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200" dirty="0">
                <a:solidFill>
                  <a:schemeClr val="tx1"/>
                </a:solidFill>
              </a:rPr>
              <a:t>Examples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CE9F56-92CD-4461-A7D2-F4EC692567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</p:spPr>
            <p:txBody>
              <a:bodyPr anchor="ctr">
                <a:normAutofit fontScale="85000" lnSpcReduction="10000"/>
              </a:bodyPr>
              <a:lstStyle/>
              <a:p>
                <a:r>
                  <a:rPr lang="en-CA" sz="1800" dirty="0"/>
                  <a:t>Construct a quaternion that performs a rotation of 120° about the axis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CA" sz="1800" dirty="0"/>
                  <a:t>.</a:t>
                </a:r>
              </a:p>
              <a:p>
                <a:endParaRPr lang="en-CA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CA" sz="180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en-CA" sz="1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CA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d>
                            </m:e>
                          </m:rad>
                        </m:den>
                      </m:f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1800" dirty="0"/>
              </a:p>
              <a:p>
                <a:pPr marL="0" indent="0">
                  <a:buNone/>
                </a:pPr>
                <a:endParaRPr lang="en-CA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𝑐𝑜𝑠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CA" sz="18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CA" sz="180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en-CA" sz="1800" i="1">
                          <a:latin typeface="Cambria Math" panose="02040503050406030204" pitchFamily="18" charset="0"/>
                        </a:rPr>
                        <m:t>𝑠𝑖𝑛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CA" sz="1800" dirty="0"/>
              </a:p>
              <a:p>
                <a:pPr marL="0" indent="0">
                  <a:buNone/>
                </a:pPr>
                <a:endParaRPr lang="en-CA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60°+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60°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1800" dirty="0"/>
              </a:p>
              <a:p>
                <a:pPr marL="0" indent="0">
                  <a:buNone/>
                </a:pPr>
                <a:endParaRPr lang="en-CA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CA" sz="1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1800" dirty="0"/>
              </a:p>
              <a:p>
                <a:pPr marL="0" indent="0">
                  <a:buNone/>
                </a:pPr>
                <a:endParaRPr lang="en-CA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rad>
                                      </m:num>
                                      <m:den>
                                        <m: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rad>
                                      </m:num>
                                      <m:den>
                                        <m: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CA" sz="1800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rad>
                                      </m:num>
                                      <m:den>
                                        <m: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CA" sz="1800" dirty="0"/>
              </a:p>
              <a:p>
                <a:endParaRPr lang="en-CA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CE9F56-92CD-4461-A7D2-F4EC692567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  <a:blipFill>
                <a:blip r:embed="rId2"/>
                <a:stretch>
                  <a:fillRect l="-277" t="-46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07504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F01EF-D71E-4E72-BD94-A30EC8CC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000" dirty="0">
                <a:solidFill>
                  <a:schemeClr val="tx1"/>
                </a:solidFill>
              </a:rPr>
              <a:t>Advantages &amp; Disadvantages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84C47-3D8F-42BE-99E0-2D2585055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668" y="1126067"/>
            <a:ext cx="6605331" cy="4605866"/>
          </a:xfrm>
        </p:spPr>
        <p:txBody>
          <a:bodyPr anchor="ctr">
            <a:normAutofit/>
          </a:bodyPr>
          <a:lstStyle/>
          <a:p>
            <a:r>
              <a:rPr lang="en-CA" sz="1800" dirty="0"/>
              <a:t>Advantages</a:t>
            </a:r>
          </a:p>
          <a:p>
            <a:pPr lvl="1"/>
            <a:r>
              <a:rPr lang="en-CA" sz="1800" dirty="0"/>
              <a:t>Only 4 numbers needed.</a:t>
            </a:r>
          </a:p>
          <a:p>
            <a:pPr lvl="1"/>
            <a:r>
              <a:rPr lang="en-CA" sz="1800" dirty="0"/>
              <a:t>No </a:t>
            </a:r>
            <a:r>
              <a:rPr lang="en-CA" sz="1800" b="1" dirty="0"/>
              <a:t>Gimbal Lock</a:t>
            </a:r>
            <a:r>
              <a:rPr lang="en-CA" sz="1800" dirty="0"/>
              <a:t>.</a:t>
            </a:r>
          </a:p>
          <a:p>
            <a:r>
              <a:rPr lang="en-CA" sz="1800" dirty="0"/>
              <a:t>Disadvantages</a:t>
            </a:r>
          </a:p>
          <a:p>
            <a:pPr lvl="1"/>
            <a:r>
              <a:rPr lang="en-CA" sz="1800" dirty="0"/>
              <a:t>Not intuitive.</a:t>
            </a:r>
          </a:p>
          <a:p>
            <a:pPr lvl="1"/>
            <a:r>
              <a:rPr lang="en-CA" sz="1800" dirty="0"/>
              <a:t>Can become invalid through bad data or round off errors.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32809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2CBEA2-7B4B-40EB-9CA0-080F2CBE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200" dirty="0">
                <a:solidFill>
                  <a:schemeClr val="tx1"/>
                </a:solidFill>
              </a:rPr>
              <a:t>Classwork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1441DF-A4C1-4158-9664-4DD193FE26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</p:spPr>
            <p:txBody>
              <a:bodyPr anchor="ctr">
                <a:normAutofit/>
              </a:bodyPr>
              <a:lstStyle/>
              <a:p>
                <a:r>
                  <a:rPr lang="en-CA" sz="1800"/>
                  <a:t>Construct a quaternion that performs a rotation of 60° about the axis </a:t>
                </a:r>
                <a14:m>
                  <m:oMath xmlns:m="http://schemas.openxmlformats.org/officeDocument/2006/math">
                    <m:r>
                      <a:rPr lang="en-CA" sz="18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CA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sz="18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1441DF-A4C1-4158-9664-4DD193FE2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  <a:blipFill>
                <a:blip r:embed="rId2"/>
                <a:stretch>
                  <a:fillRect l="-64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64930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48546-8844-464C-8691-FBC2B9EB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20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4F8F8E-F652-4606-8139-DA54AA19A7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CA" sz="18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CA" sz="1800" dirty="0"/>
              </a:p>
              <a:p>
                <a:endParaRPr lang="en-CA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4F8F8E-F652-4606-8139-DA54AA19A7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16749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D4F1CB-A2CB-4B0F-8076-5C6D5A1C0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200">
                <a:solidFill>
                  <a:schemeClr val="tx1"/>
                </a:solidFill>
              </a:rPr>
              <a:t>Classwork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3075F-7B63-40B6-AB8B-62C4181F48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</p:spPr>
            <p:txBody>
              <a:bodyPr anchor="ctr">
                <a:normAutofit/>
              </a:bodyPr>
              <a:lstStyle/>
              <a:p>
                <a:pPr lvl="0"/>
                <a:r>
                  <a:rPr lang="en-CA" sz="1800" dirty="0"/>
                  <a:t>What type of rotation is represented by the following quaternion? </a:t>
                </a:r>
              </a:p>
              <a:p>
                <a:pPr marL="0" lvl="0" indent="0">
                  <a:buNone/>
                </a:pPr>
                <a:endParaRPr lang="en-CA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0.965  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0.149</m:t>
                                    </m:r>
                                  </m:e>
                                  <m:e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−0.149</m:t>
                                    </m:r>
                                  </m:e>
                                  <m:e>
                                    <m:r>
                                      <a:rPr lang="en-CA" sz="1800" i="1">
                                        <a:latin typeface="Cambria Math" panose="02040503050406030204" pitchFamily="18" charset="0"/>
                                      </a:rPr>
                                      <m:t>0.149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CA" sz="1800" dirty="0"/>
              </a:p>
              <a:p>
                <a:endParaRPr lang="en-CA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3075F-7B63-40B6-AB8B-62C4181F48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  <a:blipFill>
                <a:blip r:embed="rId2"/>
                <a:stretch>
                  <a:fillRect l="-646" r="-3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38395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15D0F-2609-47A6-8439-4DB39AE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CA" sz="32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6AE2CD-7595-4287-B1A7-A243F71D7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</p:spPr>
            <p:txBody>
              <a:bodyPr anchor="ctr">
                <a:normAutofit/>
              </a:bodyPr>
              <a:lstStyle/>
              <a:p>
                <a:r>
                  <a:rPr lang="en-CA" sz="1800" dirty="0"/>
                  <a:t>A rotation of 30.4° about the unit vector axis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0.568</m:t>
                              </m:r>
                            </m:e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−0.568</m:t>
                              </m:r>
                            </m:e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0.568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sz="1800" dirty="0"/>
              </a:p>
              <a:p>
                <a:endParaRPr lang="en-CA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6AE2CD-7595-4287-B1A7-A243F71D7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668" y="1126067"/>
                <a:ext cx="6605331" cy="4605866"/>
              </a:xfrm>
              <a:blipFill>
                <a:blip r:embed="rId2"/>
                <a:stretch>
                  <a:fillRect l="-64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83004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199DC7-A76E-4D53-978D-FE9964B4E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DED6C1-4644-4EF9-95B6-C79E5FFEE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059012"/>
            <a:ext cx="12188952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E4903-7FCB-4D64-903C-0800103D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2166364"/>
            <a:ext cx="11471565" cy="17393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2"/>
                </a:solidFill>
              </a:rPr>
              <a:t>Fin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8CCD1-835A-46C7-8124-BD3B95ACD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3996250"/>
            <a:ext cx="9144000" cy="130925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968079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Widescreen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Cambria Math</vt:lpstr>
      <vt:lpstr>Corbel</vt:lpstr>
      <vt:lpstr>Wingdings</vt:lpstr>
      <vt:lpstr>Banded</vt:lpstr>
      <vt:lpstr>Orientation</vt:lpstr>
      <vt:lpstr>Orientation</vt:lpstr>
      <vt:lpstr>Matrices</vt:lpstr>
      <vt:lpstr>Addition</vt:lpstr>
      <vt:lpstr>Multiplication</vt:lpstr>
      <vt:lpstr>Advantages &amp; Disadvantages</vt:lpstr>
      <vt:lpstr>Euler Angles</vt:lpstr>
      <vt:lpstr>Advantages &amp; Disadvantages</vt:lpstr>
      <vt:lpstr>Quaternions</vt:lpstr>
      <vt:lpstr>Examples</vt:lpstr>
      <vt:lpstr>Advantages &amp; Disadvantages</vt:lpstr>
      <vt:lpstr>Classwork</vt:lpstr>
      <vt:lpstr>Answer</vt:lpstr>
      <vt:lpstr>Classwork</vt:lpstr>
      <vt:lpstr>Answer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Orientation</dc:title>
  <dc:creator>Aidan Dearing</dc:creator>
  <cp:lastModifiedBy>Aidan Dearing</cp:lastModifiedBy>
  <cp:revision>1</cp:revision>
  <dcterms:created xsi:type="dcterms:W3CDTF">2019-01-25T16:38:04Z</dcterms:created>
  <dcterms:modified xsi:type="dcterms:W3CDTF">2019-01-25T16:38:45Z</dcterms:modified>
</cp:coreProperties>
</file>