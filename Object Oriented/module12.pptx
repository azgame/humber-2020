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62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84" r:id="rId22"/>
    <p:sldId id="285" r:id="rId23"/>
    <p:sldId id="286" r:id="rId24"/>
    <p:sldId id="287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idan Dearing" initials="AD" lastIdx="1" clrIdx="0">
    <p:extLst>
      <p:ext uri="{19B8F6BF-5375-455C-9EA6-DF929625EA0E}">
        <p15:presenceInfo xmlns:p15="http://schemas.microsoft.com/office/powerpoint/2012/main" userId="549f97a1b13543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09T09:57:13.558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25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89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72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6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62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28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187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220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22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925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510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08305A-64FB-44B4-A6FA-F654B859C338}" type="datetimeFigureOut">
              <a:rPr lang="en-CA" smtClean="0"/>
              <a:t>2020-04-09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EFB602D1-DD00-43C1-B4D5-1093CC9394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1842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t-machine.org/index.php/2007/11/11/entity-systems-are-the-future-of-mmog-development-part-2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t-machine.org/index.php/2007/11/11/entity-systems-are-the-future-of-mmog-development-part-2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t-machine.org/index.php/2007/11/11/entity-systems-are-the-future-of-mmog-development-part-2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71DBB-6120-417B-BD2B-6E9FE71BE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State Diagrams &amp; Extras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22A6-701C-4533-B6B0-4D60BC23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Game 253</a:t>
            </a:r>
          </a:p>
        </p:txBody>
      </p:sp>
    </p:spTree>
    <p:extLst>
      <p:ext uri="{BB962C8B-B14F-4D97-AF65-F5344CB8AC3E}">
        <p14:creationId xmlns:p14="http://schemas.microsoft.com/office/powerpoint/2010/main" val="461358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61D5-33F2-4759-807D-CD307653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653A9-3854-4EC9-80B4-14899993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Explaining a State Diagram</a:t>
            </a:r>
          </a:p>
          <a:p>
            <a:r>
              <a:rPr lang="en-CA" dirty="0"/>
              <a:t>State Diagram Symbols</a:t>
            </a:r>
          </a:p>
          <a:p>
            <a:r>
              <a:rPr lang="en-CA" dirty="0"/>
              <a:t>Multithreading</a:t>
            </a:r>
          </a:p>
          <a:p>
            <a:r>
              <a:rPr lang="en-CA" dirty="0"/>
              <a:t>ECS</a:t>
            </a:r>
          </a:p>
        </p:txBody>
      </p:sp>
    </p:spTree>
    <p:extLst>
      <p:ext uri="{BB962C8B-B14F-4D97-AF65-F5344CB8AC3E}">
        <p14:creationId xmlns:p14="http://schemas.microsoft.com/office/powerpoint/2010/main" val="1738305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1898E-FF06-45ED-B303-706F27AF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State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0907-DEAA-49F7-AEC9-CCE9962B3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What are they good for</a:t>
            </a:r>
          </a:p>
        </p:txBody>
      </p:sp>
    </p:spTree>
    <p:extLst>
      <p:ext uri="{BB962C8B-B14F-4D97-AF65-F5344CB8AC3E}">
        <p14:creationId xmlns:p14="http://schemas.microsoft.com/office/powerpoint/2010/main" val="188613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878A-D701-4B5D-8D60-C1FF5397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State Diagram?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FCE7-534E-45F1-A24F-BA67E841F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State Diagrams are also known as State Machines, or State Machine Diagrams</a:t>
            </a:r>
          </a:p>
          <a:p>
            <a:r>
              <a:rPr lang="en-CA" dirty="0"/>
              <a:t>They are a behavioural diagram, that describe how a state machine responds to conditions</a:t>
            </a:r>
          </a:p>
          <a:p>
            <a:r>
              <a:rPr lang="en-CA" dirty="0"/>
              <a:t>Can be used to:</a:t>
            </a:r>
          </a:p>
          <a:p>
            <a:pPr lvl="1"/>
            <a:r>
              <a:rPr lang="en-CA" dirty="0"/>
              <a:t>Document events in an event driven system</a:t>
            </a:r>
          </a:p>
          <a:p>
            <a:pPr lvl="1"/>
            <a:r>
              <a:rPr lang="en-CA" dirty="0"/>
              <a:t>Document the flow between states of a state based entity</a:t>
            </a:r>
          </a:p>
        </p:txBody>
      </p:sp>
    </p:spTree>
    <p:extLst>
      <p:ext uri="{BB962C8B-B14F-4D97-AF65-F5344CB8AC3E}">
        <p14:creationId xmlns:p14="http://schemas.microsoft.com/office/powerpoint/2010/main" val="172588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4DA161B-6C35-4BAF-959E-0F247CD31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0840" y="0"/>
            <a:ext cx="5471160" cy="685800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27EF4-2657-44C7-9EC0-006D2AC1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213" y="499533"/>
            <a:ext cx="4345858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Building a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C2C310-F266-4034-8FEA-F65DC0C482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3192" y="1538088"/>
            <a:ext cx="5451627" cy="346178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98ED00-AFC8-4DD6-B77D-4C0B4EE99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7213" y="2011680"/>
            <a:ext cx="4345858" cy="38647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Let’s try to capture the states and conditions in a game of Cat and Mouse.</a:t>
            </a:r>
          </a:p>
          <a:p>
            <a:r>
              <a:rPr lang="en-US" dirty="0"/>
              <a:t>At first, we may come up with something like this diagram.</a:t>
            </a:r>
          </a:p>
        </p:txBody>
      </p:sp>
    </p:spTree>
    <p:extLst>
      <p:ext uri="{BB962C8B-B14F-4D97-AF65-F5344CB8AC3E}">
        <p14:creationId xmlns:p14="http://schemas.microsoft.com/office/powerpoint/2010/main" val="31828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DA161B-6C35-4BAF-959E-0F247CD31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0840" y="0"/>
            <a:ext cx="5471160" cy="685800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69953-F93D-496A-B34E-CD56FD55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213" y="499533"/>
            <a:ext cx="4345858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Improving a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BC0C4C-B494-4089-A8F8-323D66B6397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3192" y="1865186"/>
            <a:ext cx="5451627" cy="280758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C33CD-658B-4EE4-9CE0-297BDC806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7213" y="2011680"/>
            <a:ext cx="4345858" cy="38647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If we generalise these states, we could come up with a state machine that describes both Cat and Mouse.</a:t>
            </a:r>
          </a:p>
          <a:p>
            <a:r>
              <a:rPr lang="en-US"/>
              <a:t>More accurately this State Diagram describes 4 states that each can transition to each other given a variety of conditions.</a:t>
            </a:r>
          </a:p>
        </p:txBody>
      </p:sp>
    </p:spTree>
    <p:extLst>
      <p:ext uri="{BB962C8B-B14F-4D97-AF65-F5344CB8AC3E}">
        <p14:creationId xmlns:p14="http://schemas.microsoft.com/office/powerpoint/2010/main" val="398151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6FFF02-2AB4-4F78-AADB-349F9EBB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99533"/>
            <a:ext cx="514227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ATM Starting States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0542AA-7144-411C-8051-5092937BF7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3192" y="2246800"/>
            <a:ext cx="5451627" cy="20443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1968-31B1-475D-9709-7D04DE4F2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2011680"/>
            <a:ext cx="5142271" cy="3864732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/>
            <a:r>
              <a:rPr lang="en-US"/>
              <a:t>Stars at the black circle (Initial State / First State)</a:t>
            </a:r>
          </a:p>
          <a:p>
            <a:pPr marL="457200" indent="-457200"/>
            <a:r>
              <a:rPr lang="en-US"/>
              <a:t>Transition to waiting for PIN when card is inserted</a:t>
            </a:r>
          </a:p>
          <a:p>
            <a:pPr marL="457200" indent="-457200"/>
            <a:r>
              <a:rPr lang="en-US"/>
              <a:t>Transition to PIN verification when PIN is entered</a:t>
            </a:r>
          </a:p>
          <a:p>
            <a:pPr marL="457200" indent="-457200"/>
            <a:r>
              <a:rPr lang="en-US"/>
              <a:t>Transition to waiting for PIN if PIN is rejected</a:t>
            </a:r>
          </a:p>
          <a:p>
            <a:pPr marL="457200" indent="-457200"/>
            <a:r>
              <a:rPr lang="en-US"/>
              <a:t>Transition to Terminator when PIN is autheticated</a:t>
            </a:r>
          </a:p>
        </p:txBody>
      </p:sp>
    </p:spTree>
    <p:extLst>
      <p:ext uri="{BB962C8B-B14F-4D97-AF65-F5344CB8AC3E}">
        <p14:creationId xmlns:p14="http://schemas.microsoft.com/office/powerpoint/2010/main" val="86205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97FD4F3-D2D0-4D67-AD55-04AB7AEA0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Symbols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9083413-A9E5-4F3D-8AA0-7EFA81431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And how to use them</a:t>
            </a:r>
          </a:p>
        </p:txBody>
      </p:sp>
    </p:spTree>
    <p:extLst>
      <p:ext uri="{BB962C8B-B14F-4D97-AF65-F5344CB8AC3E}">
        <p14:creationId xmlns:p14="http://schemas.microsoft.com/office/powerpoint/2010/main" val="291187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8FA52F-675E-4661-BA16-455C93943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8A8CB-5DAA-468B-8995-260DC66D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56" y="896684"/>
            <a:ext cx="2979252" cy="4979728"/>
          </a:xfrm>
        </p:spPr>
        <p:txBody>
          <a:bodyPr anchor="ctr">
            <a:normAutofit/>
          </a:bodyPr>
          <a:lstStyle/>
          <a:p>
            <a:pPr algn="r"/>
            <a:r>
              <a:rPr lang="en-CA" sz="4000"/>
              <a:t>Symbols of a State Diagram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BC4E14-913C-46C0-ABF7-BDDAEC08A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3440" y="2071116"/>
            <a:ext cx="0" cy="2715768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ED2A7-C958-4C96-BB40-BA107CEC3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172" y="896684"/>
            <a:ext cx="5484707" cy="5064633"/>
          </a:xfrm>
        </p:spPr>
        <p:txBody>
          <a:bodyPr anchor="ctr">
            <a:normAutofit/>
          </a:bodyPr>
          <a:lstStyle/>
          <a:p>
            <a:r>
              <a:rPr lang="en-CA" sz="1800"/>
              <a:t>You will probably find, if you haven’t already that we know most of these symbols already, as a State Diagram very closely resembles an Activity Diagram.</a:t>
            </a:r>
          </a:p>
        </p:txBody>
      </p:sp>
    </p:spTree>
    <p:extLst>
      <p:ext uri="{BB962C8B-B14F-4D97-AF65-F5344CB8AC3E}">
        <p14:creationId xmlns:p14="http://schemas.microsoft.com/office/powerpoint/2010/main" val="68620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2E7745-1705-4CFA-98A6-4534ACD6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 State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790E9E-F716-4514-A789-D83CD6A193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65400" y="3439319"/>
            <a:ext cx="885825" cy="88582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D697C-D9F2-4115-B9D2-85E35C30E2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The initial state is the starting state of the state diagram</a:t>
            </a:r>
          </a:p>
          <a:p>
            <a:r>
              <a:rPr lang="en-CA" dirty="0"/>
              <a:t>Same as an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3684968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A146-9AD5-417A-93C5-F7556241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50478E-3C66-4E2D-9CC9-238A7DFFB3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0050" y="3058319"/>
            <a:ext cx="2676525" cy="16478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F0ECC-1198-4F16-99F7-99C2E28CCC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States define the current behaviour of the object</a:t>
            </a:r>
          </a:p>
        </p:txBody>
      </p:sp>
    </p:spTree>
    <p:extLst>
      <p:ext uri="{BB962C8B-B14F-4D97-AF65-F5344CB8AC3E}">
        <p14:creationId xmlns:p14="http://schemas.microsoft.com/office/powerpoint/2010/main" val="253464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0B8C-6AC5-4AA2-9821-27F5C611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Sub-State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2952D1-CCC3-43B3-964A-3E49D9FD2E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4250" y="2439194"/>
            <a:ext cx="4048125" cy="288607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D8C4-1C35-4BEE-8CE2-F2B2E19590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Sub-States are states within composite states</a:t>
            </a:r>
          </a:p>
          <a:p>
            <a:r>
              <a:rPr lang="en-CA" dirty="0"/>
              <a:t>By placing a State Diagram inside the Composite State we define in detail the various sub-states of the composite</a:t>
            </a:r>
          </a:p>
          <a:p>
            <a:r>
              <a:rPr lang="en-CA" dirty="0"/>
              <a:t>(We will go over this in more detail next week)</a:t>
            </a:r>
          </a:p>
        </p:txBody>
      </p:sp>
    </p:spTree>
    <p:extLst>
      <p:ext uri="{BB962C8B-B14F-4D97-AF65-F5344CB8AC3E}">
        <p14:creationId xmlns:p14="http://schemas.microsoft.com/office/powerpoint/2010/main" val="2736954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7975-F05B-435E-B1B9-464CA456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Transition /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366D46-F75E-4A56-A538-3894139F55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3287" y="3058319"/>
            <a:ext cx="4210050" cy="16478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8C3D9-77A0-45BC-970A-CFBA46631E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Transition mark events that cause one state to switch to another</a:t>
            </a:r>
          </a:p>
          <a:p>
            <a:r>
              <a:rPr lang="en-CA" dirty="0"/>
              <a:t>Transitions can have a ‘Guard’ which is a Boolean condition that allows or prevents transition</a:t>
            </a:r>
          </a:p>
        </p:txBody>
      </p:sp>
    </p:spTree>
    <p:extLst>
      <p:ext uri="{BB962C8B-B14F-4D97-AF65-F5344CB8AC3E}">
        <p14:creationId xmlns:p14="http://schemas.microsoft.com/office/powerpoint/2010/main" val="3445243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A925-50A0-4F26-B9E0-79D8E4DC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Trigger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203E00-4C34-4976-A351-0E620F0122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6275" y="3362839"/>
            <a:ext cx="4664075" cy="10387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3F26B-E447-424E-8B10-0751A07B9B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Triggers are labels on transitions that define the event that causes the transition</a:t>
            </a:r>
          </a:p>
          <a:p>
            <a:r>
              <a:rPr lang="en-CA" dirty="0"/>
              <a:t>In this case hunt transitions to eat when arrived at food</a:t>
            </a:r>
          </a:p>
        </p:txBody>
      </p:sp>
    </p:spTree>
    <p:extLst>
      <p:ext uri="{BB962C8B-B14F-4D97-AF65-F5344CB8AC3E}">
        <p14:creationId xmlns:p14="http://schemas.microsoft.com/office/powerpoint/2010/main" val="163964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AB36-F5B8-4927-A4B7-2690E282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A85854-3829-409C-827F-B912B97CF5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98700" y="3172619"/>
            <a:ext cx="1419225" cy="14192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30EE0-AAB5-4173-B186-C5B0A90226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Defines a pseudo-state that can branch to multiple states</a:t>
            </a:r>
          </a:p>
        </p:txBody>
      </p:sp>
    </p:spTree>
    <p:extLst>
      <p:ext uri="{BB962C8B-B14F-4D97-AF65-F5344CB8AC3E}">
        <p14:creationId xmlns:p14="http://schemas.microsoft.com/office/powerpoint/2010/main" val="224313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F1C6-DF6C-4F94-BA92-7F4A7C2D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Synchronisation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54118-6428-4A10-8D72-2177814800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29157" y="1998663"/>
            <a:ext cx="1358310" cy="376713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1B929-3E99-4359-8235-B39871AA94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Much like Activity Diagrams whenever multiple states can occur simultaneously a fork is used to branch transitions</a:t>
            </a:r>
          </a:p>
          <a:p>
            <a:r>
              <a:rPr lang="en-CA" dirty="0"/>
              <a:t>Fork (Top)</a:t>
            </a:r>
          </a:p>
          <a:p>
            <a:pPr lvl="1"/>
            <a:r>
              <a:rPr lang="en-CA" dirty="0"/>
              <a:t>Splits a transition into multiple states (at the same time)</a:t>
            </a:r>
          </a:p>
          <a:p>
            <a:r>
              <a:rPr lang="en-CA" dirty="0"/>
              <a:t>Join (Bottom)</a:t>
            </a:r>
          </a:p>
          <a:p>
            <a:pPr lvl="1"/>
            <a:r>
              <a:rPr lang="en-CA" dirty="0"/>
              <a:t>Rejoins separate flows of states together (only used at the end of a fork to show that flows have been synchronised)</a:t>
            </a:r>
          </a:p>
          <a:p>
            <a:r>
              <a:rPr lang="en-CA" dirty="0"/>
              <a:t>These are not decisions these are for multi-threading or similar concurrent operation procedures</a:t>
            </a:r>
          </a:p>
        </p:txBody>
      </p:sp>
    </p:spTree>
    <p:extLst>
      <p:ext uri="{BB962C8B-B14F-4D97-AF65-F5344CB8AC3E}">
        <p14:creationId xmlns:p14="http://schemas.microsoft.com/office/powerpoint/2010/main" val="2966432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0311-9EEE-4930-ACE0-8DD10969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Terminator </a:t>
            </a:r>
            <a:r>
              <a:rPr lang="en-CA" dirty="0">
                <a:solidFill>
                  <a:schemeClr val="bg1">
                    <a:lumMod val="95000"/>
                    <a:lumOff val="5000"/>
                  </a:schemeClr>
                </a:solidFill>
              </a:rPr>
              <a:t>(I’ll be back)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9A2C70-DDAD-40F8-919C-36754A07C2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65400" y="3439319"/>
            <a:ext cx="885825" cy="8858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D089C-5608-4759-9B15-34E972FEC5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The end state, defines when the state machine finishes</a:t>
            </a:r>
          </a:p>
        </p:txBody>
      </p:sp>
    </p:spTree>
    <p:extLst>
      <p:ext uri="{BB962C8B-B14F-4D97-AF65-F5344CB8AC3E}">
        <p14:creationId xmlns:p14="http://schemas.microsoft.com/office/powerpoint/2010/main" val="1279019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F157-AFE4-4C97-BB76-29C91546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Exit Point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0AFC66-BD98-4CC9-9E49-9FC468797F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65400" y="3439319"/>
            <a:ext cx="885825" cy="8858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B82EE-EDF8-4E5C-8EFA-ECC44B0894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An exit point defines when the state machine exits, but wouldn’t have been classified as finishing</a:t>
            </a:r>
          </a:p>
          <a:p>
            <a:r>
              <a:rPr lang="en-CA" dirty="0"/>
              <a:t>This is an early exit node</a:t>
            </a:r>
          </a:p>
          <a:p>
            <a:r>
              <a:rPr lang="en-CA" dirty="0"/>
              <a:t>Use this when trying to say that while the state machine has now ended, it did not end in the desired way</a:t>
            </a:r>
          </a:p>
        </p:txBody>
      </p:sp>
    </p:spTree>
    <p:extLst>
      <p:ext uri="{BB962C8B-B14F-4D97-AF65-F5344CB8AC3E}">
        <p14:creationId xmlns:p14="http://schemas.microsoft.com/office/powerpoint/2010/main" val="527008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001E8-FEB0-4BEF-997D-FFAC7BA1E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Multithreading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084BA9-56A8-4C01-BC2C-7EB1006A9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Running multiple operations at the same time using the other logical processors of the CPU / GPU / </a:t>
            </a:r>
            <a:r>
              <a:rPr lang="en-CA" dirty="0" err="1"/>
              <a:t>etc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785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4B514-F6E6-4EAE-89EF-5B68EF30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D48C4-A004-4706-9CF4-DBDE593F8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Allows several operations to be run simultaneously</a:t>
            </a:r>
          </a:p>
          <a:p>
            <a:r>
              <a:rPr lang="en-CA" dirty="0"/>
              <a:t>Often used to offload performance heavy operations whenever possible such that the main game loop is left unaffected by the operation’s execution</a:t>
            </a:r>
          </a:p>
          <a:p>
            <a:pPr lvl="1"/>
            <a:r>
              <a:rPr lang="en-CA" dirty="0"/>
              <a:t>Pathfinding (A*)</a:t>
            </a:r>
          </a:p>
          <a:p>
            <a:pPr lvl="1"/>
            <a:r>
              <a:rPr lang="en-CA" dirty="0"/>
              <a:t>Etc.</a:t>
            </a:r>
          </a:p>
          <a:p>
            <a:r>
              <a:rPr lang="en-CA" dirty="0"/>
              <a:t>Requires resynchronizing the threads to gain access to the final output</a:t>
            </a:r>
          </a:p>
        </p:txBody>
      </p:sp>
    </p:spTree>
    <p:extLst>
      <p:ext uri="{BB962C8B-B14F-4D97-AF65-F5344CB8AC3E}">
        <p14:creationId xmlns:p14="http://schemas.microsoft.com/office/powerpoint/2010/main" val="3168845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DEE7-141F-4062-9B17-2BAC6428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4F5E-C288-47C7-B530-035A0F5BF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Represent different processes, to grab data from one it must be synchronised with the thread you are currently in</a:t>
            </a:r>
          </a:p>
          <a:p>
            <a:r>
              <a:rPr lang="en-CA" dirty="0"/>
              <a:t>Applications each have at least one thread*</a:t>
            </a:r>
          </a:p>
        </p:txBody>
      </p:sp>
    </p:spTree>
    <p:extLst>
      <p:ext uri="{BB962C8B-B14F-4D97-AF65-F5344CB8AC3E}">
        <p14:creationId xmlns:p14="http://schemas.microsoft.com/office/powerpoint/2010/main" val="275945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772E-D18F-4D38-9B2A-057DAC4D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A932-247E-4DD5-AFD5-3FD8F92A8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 shared between threads is considered volatile</a:t>
            </a:r>
          </a:p>
          <a:p>
            <a:r>
              <a:rPr lang="en-CA" dirty="0"/>
              <a:t>Volatile memory’s state cannot be guaranteed until both threads are synchronised</a:t>
            </a:r>
          </a:p>
          <a:p>
            <a:r>
              <a:rPr lang="en-CA" dirty="0"/>
              <a:t>Memory can be protected from other threads by locking them if they try to access it while another thread is currently using it</a:t>
            </a:r>
          </a:p>
          <a:p>
            <a:r>
              <a:rPr lang="en-CA" dirty="0"/>
              <a:t>Locked threads wait until unlocked before continuing</a:t>
            </a:r>
          </a:p>
        </p:txBody>
      </p:sp>
    </p:spTree>
    <p:extLst>
      <p:ext uri="{BB962C8B-B14F-4D97-AF65-F5344CB8AC3E}">
        <p14:creationId xmlns:p14="http://schemas.microsoft.com/office/powerpoint/2010/main" val="1201983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404D-1449-4E81-ABD0-8FE50FF3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A842-6DA2-49F9-9D03-8735D68B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Occurs when 2 threads lock each other, thus becoming stuck</a:t>
            </a:r>
          </a:p>
          <a:p>
            <a:r>
              <a:rPr lang="en-CA" dirty="0"/>
              <a:t>Consider:</a:t>
            </a:r>
          </a:p>
          <a:p>
            <a:pPr lvl="1"/>
            <a:r>
              <a:rPr lang="en-CA" dirty="0"/>
              <a:t>Thread A has Memory A, such that if another thread tries to access Memory A it will be locked until Thread A is done with Memory A. Thread B has Memory B, such that if another thread tries to access Memory B it will be locked until Thread B is done with Memory B.</a:t>
            </a:r>
          </a:p>
          <a:p>
            <a:pPr lvl="1"/>
            <a:r>
              <a:rPr lang="en-CA" dirty="0"/>
              <a:t>During the course of performing an operation on Thread A we attempt to access Memory B, currently locked by Thread B, Thread A is now locked until Thread B completes. Thread B however similarly during the course of performing an operation attempts to access Memory A, now Thread B is also locked.</a:t>
            </a:r>
          </a:p>
          <a:p>
            <a:pPr lvl="1"/>
            <a:r>
              <a:rPr lang="en-CA" dirty="0"/>
              <a:t>Both Threads will remain locked until either an external thread frees them both, or the application ends (often with a crash given the circumstances).</a:t>
            </a:r>
          </a:p>
        </p:txBody>
      </p:sp>
    </p:spTree>
    <p:extLst>
      <p:ext uri="{BB962C8B-B14F-4D97-AF65-F5344CB8AC3E}">
        <p14:creationId xmlns:p14="http://schemas.microsoft.com/office/powerpoint/2010/main" val="1455177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C51B-6244-4FD9-AC20-69BDF119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Race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4D35C-FE0D-4595-9C16-5FB6EEC3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Occurs when 2 operations modify the same memory, and the state of that memory is incorrect depending on the order of execution of the 2 operations.</a:t>
            </a:r>
          </a:p>
          <a:p>
            <a:r>
              <a:rPr lang="en-CA" dirty="0"/>
              <a:t>When threads are executing it is essentially impossible (it isn’t but we can behave as if it is for simplicities sake) to determine which threads will execute first.</a:t>
            </a:r>
          </a:p>
          <a:p>
            <a:r>
              <a:rPr lang="en-CA" dirty="0"/>
              <a:t>Consider:</a:t>
            </a:r>
          </a:p>
          <a:p>
            <a:pPr lvl="1"/>
            <a:r>
              <a:rPr lang="en-CA" dirty="0"/>
              <a:t>Thread A and Thread B are both going to perform a mathematical operation on some data, Thread A will multiply the data by 7, and Thread B will subtract 5 from the data.</a:t>
            </a:r>
          </a:p>
          <a:p>
            <a:pPr lvl="1"/>
            <a:r>
              <a:rPr lang="en-CA" dirty="0"/>
              <a:t>We start with a value of 9.</a:t>
            </a:r>
          </a:p>
          <a:p>
            <a:pPr lvl="1"/>
            <a:r>
              <a:rPr lang="en-CA" dirty="0"/>
              <a:t>If Thread A runs its operation first (again we can’t know it will unless we have implemented a dependency system) (9*7)-5=63, where as if Thread B ran first it would be (9-5)*7=28</a:t>
            </a:r>
          </a:p>
          <a:p>
            <a:pPr lvl="1"/>
            <a:r>
              <a:rPr lang="en-CA" dirty="0"/>
              <a:t>Those are very different answers.</a:t>
            </a:r>
          </a:p>
        </p:txBody>
      </p:sp>
    </p:spTree>
    <p:extLst>
      <p:ext uri="{BB962C8B-B14F-4D97-AF65-F5344CB8AC3E}">
        <p14:creationId xmlns:p14="http://schemas.microsoft.com/office/powerpoint/2010/main" val="1167838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B8CE2F-5146-45B0-95F9-3F61DD164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b="1" dirty="0"/>
              <a:t>E</a:t>
            </a:r>
            <a:r>
              <a:rPr lang="en-CA" sz="7200" dirty="0"/>
              <a:t>ntity</a:t>
            </a:r>
            <a:r>
              <a:rPr lang="en-CA" dirty="0"/>
              <a:t> </a:t>
            </a:r>
            <a:r>
              <a:rPr lang="en-CA" b="1" dirty="0"/>
              <a:t>C</a:t>
            </a:r>
            <a:r>
              <a:rPr lang="en-CA" sz="7200" dirty="0"/>
              <a:t>omponent</a:t>
            </a:r>
            <a:r>
              <a:rPr lang="en-CA" dirty="0"/>
              <a:t> </a:t>
            </a:r>
            <a:r>
              <a:rPr lang="en-CA" b="1" dirty="0"/>
              <a:t>S</a:t>
            </a:r>
            <a:r>
              <a:rPr lang="en-CA" sz="7200" dirty="0"/>
              <a:t>ystem</a:t>
            </a:r>
            <a:endParaRPr lang="en-CA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EB6DC5-9999-404C-AF27-2508AE24C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An architectural pattern of design for high performance data oriented simulations</a:t>
            </a:r>
          </a:p>
        </p:txBody>
      </p:sp>
    </p:spTree>
    <p:extLst>
      <p:ext uri="{BB962C8B-B14F-4D97-AF65-F5344CB8AC3E}">
        <p14:creationId xmlns:p14="http://schemas.microsoft.com/office/powerpoint/2010/main" val="1298192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6715-8B3E-44D5-AB7B-C253C469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 Component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9D517-2D1B-4067-A5BF-A1728BA3D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Entity Component System (ECS) is an architectural pattern</a:t>
            </a:r>
          </a:p>
          <a:p>
            <a:pPr lvl="1"/>
            <a:r>
              <a:rPr lang="en-CA" dirty="0"/>
              <a:t>This means it usually requires both a wholly different way of writing code to work within, and building an engine designed to support it</a:t>
            </a:r>
          </a:p>
          <a:p>
            <a:pPr lvl="1"/>
            <a:r>
              <a:rPr lang="en-CA" dirty="0"/>
              <a:t>It isn’t something you can easily tack on top of our usual game engines</a:t>
            </a:r>
          </a:p>
          <a:p>
            <a:r>
              <a:rPr lang="en-CA" dirty="0"/>
              <a:t>Take a look at Unity’s ECS</a:t>
            </a:r>
          </a:p>
          <a:p>
            <a:r>
              <a:rPr lang="en-CA" dirty="0"/>
              <a:t>It is a common practice (increasingly)</a:t>
            </a:r>
          </a:p>
          <a:p>
            <a:r>
              <a:rPr lang="en-CA" dirty="0"/>
              <a:t>ECS is a Component Based Architecture*</a:t>
            </a:r>
          </a:p>
        </p:txBody>
      </p:sp>
    </p:spTree>
    <p:extLst>
      <p:ext uri="{BB962C8B-B14F-4D97-AF65-F5344CB8AC3E}">
        <p14:creationId xmlns:p14="http://schemas.microsoft.com/office/powerpoint/2010/main" val="3069735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05C9-FDF0-45B6-8C72-47681398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Advantages of ECS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9159-A53E-4C08-967F-80A024CC3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to make </a:t>
            </a:r>
            <a:r>
              <a:rPr lang="en-CA" dirty="0">
                <a:solidFill>
                  <a:schemeClr val="tx1"/>
                </a:solidFill>
              </a:rPr>
              <a:t>data-oriented</a:t>
            </a:r>
          </a:p>
          <a:p>
            <a:r>
              <a:rPr lang="en-CA" dirty="0"/>
              <a:t>Complex behaviour can be added and removed on the fly with components</a:t>
            </a:r>
          </a:p>
          <a:p>
            <a:r>
              <a:rPr lang="en-CA" dirty="0"/>
              <a:t>When multithreaded can be incredibly performance friendly</a:t>
            </a:r>
          </a:p>
        </p:txBody>
      </p:sp>
    </p:spTree>
    <p:extLst>
      <p:ext uri="{BB962C8B-B14F-4D97-AF65-F5344CB8AC3E}">
        <p14:creationId xmlns:p14="http://schemas.microsoft.com/office/powerpoint/2010/main" val="3192368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5BFA-92DD-41AC-A825-C728A1EA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Building Entity Component Systems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CFF67-13B4-47B0-BD35-FD357B502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</a:rPr>
              <a:t>Entities</a:t>
            </a:r>
            <a:r>
              <a:rPr lang="en-CA" dirty="0"/>
              <a:t> – These objects are collections of components (more accurately they are a handle to a collection of components stored in the core system)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</a:rPr>
              <a:t>Components</a:t>
            </a:r>
            <a:r>
              <a:rPr lang="en-CA" dirty="0"/>
              <a:t> – These data structures store all the properties necessary for a single behaviour, and act as flags for what behaviours entities have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>
                <a:solidFill>
                  <a:schemeClr val="tx1"/>
                </a:solidFill>
              </a:rPr>
              <a:t>Systems</a:t>
            </a:r>
            <a:r>
              <a:rPr lang="en-CA" dirty="0"/>
              <a:t> – These can be thought of as operating on individual threads, each performing global updates on all components of the type the system controls</a:t>
            </a:r>
          </a:p>
        </p:txBody>
      </p:sp>
    </p:spTree>
    <p:extLst>
      <p:ext uri="{BB962C8B-B14F-4D97-AF65-F5344CB8AC3E}">
        <p14:creationId xmlns:p14="http://schemas.microsoft.com/office/powerpoint/2010/main" val="1630158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FFF4-A952-493A-97C9-CC8B8D69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4F2D-65BD-42EF-8607-9A7EBDCF5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“Tag every coarse </a:t>
            </a:r>
            <a:r>
              <a:rPr lang="en-CA" dirty="0" err="1"/>
              <a:t>gameobject</a:t>
            </a:r>
            <a:r>
              <a:rPr lang="en-CA" dirty="0"/>
              <a:t> as a separate item” - </a:t>
            </a:r>
            <a:r>
              <a:rPr lang="en-CA" dirty="0">
                <a:hlinkClick r:id="rId2"/>
              </a:rPr>
              <a:t>Martin’s Terminology</a:t>
            </a:r>
            <a:endParaRPr lang="en-CA" dirty="0"/>
          </a:p>
          <a:p>
            <a:r>
              <a:rPr lang="en-CA" dirty="0"/>
              <a:t>General purpose object</a:t>
            </a:r>
          </a:p>
          <a:p>
            <a:r>
              <a:rPr lang="en-CA" dirty="0"/>
              <a:t>Consists of a unique id</a:t>
            </a:r>
          </a:p>
        </p:txBody>
      </p:sp>
    </p:spTree>
    <p:extLst>
      <p:ext uri="{BB962C8B-B14F-4D97-AF65-F5344CB8AC3E}">
        <p14:creationId xmlns:p14="http://schemas.microsoft.com/office/powerpoint/2010/main" val="3446097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59D0-C556-4565-B908-7C47AD62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ABF73-37FD-416A-9D80-A51673CB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“Labels the Entity as possessing this particular aspect” - </a:t>
            </a:r>
            <a:r>
              <a:rPr lang="en-CA" dirty="0">
                <a:hlinkClick r:id="rId2"/>
              </a:rPr>
              <a:t>Martin’s Terminology</a:t>
            </a:r>
            <a:endParaRPr lang="en-CA" dirty="0"/>
          </a:p>
          <a:p>
            <a:r>
              <a:rPr lang="en-CA" dirty="0"/>
              <a:t>Raw data for one piece of the object</a:t>
            </a:r>
          </a:p>
          <a:p>
            <a:r>
              <a:rPr lang="en-CA" dirty="0"/>
              <a:t>Defines how it interacts with the rest of the game</a:t>
            </a:r>
          </a:p>
        </p:txBody>
      </p:sp>
    </p:spTree>
    <p:extLst>
      <p:ext uri="{BB962C8B-B14F-4D97-AF65-F5344CB8AC3E}">
        <p14:creationId xmlns:p14="http://schemas.microsoft.com/office/powerpoint/2010/main" val="1147867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2D9C-E096-4211-AA46-7A08B203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A0CE-482B-4BD0-9E23-B7F2A8E19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“Each System runs continuously (as though each System had its own private thread) and performs global actions on every Entity that possesses a Component of the same aspect as that System” - </a:t>
            </a:r>
            <a:r>
              <a:rPr lang="en-CA" dirty="0">
                <a:hlinkClick r:id="rId2"/>
              </a:rPr>
              <a:t>Martin’s Terminology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9033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4CEDA-23B9-4854-98DC-FCF26777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Have a good week!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BBC65-3540-473F-97EE-30C1BC48C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  <a:latin typeface="+mj-lt"/>
              </a:rPr>
              <a:t>Stay safe fellows</a:t>
            </a:r>
          </a:p>
        </p:txBody>
      </p:sp>
    </p:spTree>
    <p:extLst>
      <p:ext uri="{BB962C8B-B14F-4D97-AF65-F5344CB8AC3E}">
        <p14:creationId xmlns:p14="http://schemas.microsoft.com/office/powerpoint/2010/main" val="292905694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1269</Words>
  <Application>Microsoft Office PowerPoint</Application>
  <PresentationFormat>Widescreen</PresentationFormat>
  <Paragraphs>120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 Light</vt:lpstr>
      <vt:lpstr>Metropolitan</vt:lpstr>
      <vt:lpstr>State Diagrams &amp; Extras</vt:lpstr>
      <vt:lpstr>Introduction</vt:lpstr>
      <vt:lpstr>State Diagrams</vt:lpstr>
      <vt:lpstr>What is a State Diagram?</vt:lpstr>
      <vt:lpstr>Building a Diagram</vt:lpstr>
      <vt:lpstr>Improving a Diagram</vt:lpstr>
      <vt:lpstr>ATM Starting States Example</vt:lpstr>
      <vt:lpstr>Symbols </vt:lpstr>
      <vt:lpstr>Symbols of a State Diagram</vt:lpstr>
      <vt:lpstr>Initial State</vt:lpstr>
      <vt:lpstr>State</vt:lpstr>
      <vt:lpstr>Sub-State</vt:lpstr>
      <vt:lpstr>Transition / Flow</vt:lpstr>
      <vt:lpstr>Trigger</vt:lpstr>
      <vt:lpstr>Decision</vt:lpstr>
      <vt:lpstr>Synchronisation</vt:lpstr>
      <vt:lpstr>Terminator (I’ll be back)</vt:lpstr>
      <vt:lpstr>Exit Point</vt:lpstr>
      <vt:lpstr>Multithreading</vt:lpstr>
      <vt:lpstr>What’s it good for?</vt:lpstr>
      <vt:lpstr>Threads</vt:lpstr>
      <vt:lpstr>Locking</vt:lpstr>
      <vt:lpstr>Deadlock</vt:lpstr>
      <vt:lpstr>Race Condition</vt:lpstr>
      <vt:lpstr>Entity Component System</vt:lpstr>
      <vt:lpstr>Entity Component System</vt:lpstr>
      <vt:lpstr>Advantages of ECS</vt:lpstr>
      <vt:lpstr>Building Entity Component Systems</vt:lpstr>
      <vt:lpstr>Entity</vt:lpstr>
      <vt:lpstr>Component</vt:lpstr>
      <vt:lpstr>System</vt:lpstr>
      <vt:lpstr>Have a good week!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Diagrams &amp; Extras</dc:title>
  <dc:creator>Aidan Dearing</dc:creator>
  <cp:lastModifiedBy>Aidan Dearing</cp:lastModifiedBy>
  <cp:revision>9</cp:revision>
  <dcterms:created xsi:type="dcterms:W3CDTF">2020-04-09T13:57:32Z</dcterms:created>
  <dcterms:modified xsi:type="dcterms:W3CDTF">2020-04-09T15:14:25Z</dcterms:modified>
</cp:coreProperties>
</file>