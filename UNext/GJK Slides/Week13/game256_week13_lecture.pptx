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CA7D04-01F0-4C0B-84C1-3DF36BB6BEF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4/12/2019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4/12/2019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4/12/2019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4/12/2019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4/12/2019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4/12/2019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4/12/2019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4/12/2019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4/12/2019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4/12/2019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4/12/2019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4/12/2019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allenchou.net/game-physics-series/" TargetMode="External"/><Relationship Id="rId2" Type="http://schemas.openxmlformats.org/officeDocument/2006/relationships/hyperlink" Target="https://www.scss.tcd.ie/~manzkem/CS7057/cs7057-1516-09-CollisionResponse-mm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s.qub.ac.uk/~P.Hanna/CSC3049/resources/3.5.%20Contact%20Resolution%20-%20Frictionless%20Contacts.pptx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6">
            <a:extLst>
              <a:ext uri="{FF2B5EF4-FFF2-40B4-BE49-F238E27FC236}">
                <a16:creationId xmlns:a16="http://schemas.microsoft.com/office/drawing/2014/main" id="{1579DD07-B6CD-4C04-8A4A-3B92CE8C8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0" ty="0" sx="65000" sy="65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A995F0-906C-4573-A739-16EED217D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9343" y="620720"/>
            <a:ext cx="6442480" cy="559316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979540-16DD-41D3-BD63-38D09E770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0120" y="1105351"/>
            <a:ext cx="5477071" cy="3023981"/>
          </a:xfrm>
        </p:spPr>
        <p:txBody>
          <a:bodyPr anchor="b">
            <a:normAutofit/>
          </a:bodyPr>
          <a:lstStyle/>
          <a:p>
            <a:pPr algn="l"/>
            <a:r>
              <a:rPr lang="en-CA" sz="4400">
                <a:solidFill>
                  <a:schemeClr val="bg1"/>
                </a:solidFill>
              </a:rPr>
              <a:t>EPA &amp; Kinematics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3064E4-7D1D-481F-A675-BE36693D9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0120" y="4297556"/>
            <a:ext cx="5477071" cy="1431695"/>
          </a:xfrm>
        </p:spPr>
        <p:txBody>
          <a:bodyPr anchor="t">
            <a:normAutofit/>
          </a:bodyPr>
          <a:lstStyle/>
          <a:p>
            <a:r>
              <a:rPr lang="en-CA" sz="1600">
                <a:solidFill>
                  <a:schemeClr val="bg1"/>
                </a:solidFill>
              </a:rPr>
              <a:t>Game 256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F5F06D-7250-43A5-9B61-0B7F1FD7E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09960" y="4214336"/>
            <a:ext cx="512064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6675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A19A91-0481-4B1D-AB45-34725C2D5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/>
              <a:t>Overview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5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1F82A-19E0-4CBA-8327-FBF71D981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30" y="804333"/>
            <a:ext cx="6257721" cy="5249334"/>
          </a:xfrm>
        </p:spPr>
        <p:txBody>
          <a:bodyPr anchor="ctr">
            <a:normAutofit/>
          </a:bodyPr>
          <a:lstStyle/>
          <a:p>
            <a:r>
              <a:rPr lang="en-CA" dirty="0"/>
              <a:t>EPA Data</a:t>
            </a:r>
          </a:p>
          <a:p>
            <a:r>
              <a:rPr lang="en-CA" dirty="0"/>
              <a:t>Back-Simulation Physics Engine</a:t>
            </a:r>
          </a:p>
          <a:p>
            <a:r>
              <a:rPr lang="en-CA" dirty="0"/>
              <a:t>Constraint Based Physics Engine</a:t>
            </a:r>
          </a:p>
          <a:p>
            <a:r>
              <a:rPr lang="en-CA" dirty="0"/>
              <a:t>Linear Kinematics</a:t>
            </a:r>
          </a:p>
          <a:p>
            <a:r>
              <a:rPr lang="en-CA" dirty="0"/>
              <a:t>Angular Kinematics</a:t>
            </a:r>
          </a:p>
        </p:txBody>
      </p:sp>
    </p:spTree>
    <p:extLst>
      <p:ext uri="{BB962C8B-B14F-4D97-AF65-F5344CB8AC3E}">
        <p14:creationId xmlns:p14="http://schemas.microsoft.com/office/powerpoint/2010/main" val="2780542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642C9-7F7A-49BA-B34B-CEE7D7191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FFFFFF"/>
                </a:solidFill>
              </a:rPr>
              <a:t>EPA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174F1-AD03-4918-A28A-FE096258B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048" y="804333"/>
            <a:ext cx="6306003" cy="5249334"/>
          </a:xfrm>
        </p:spPr>
        <p:txBody>
          <a:bodyPr anchor="ctr">
            <a:normAutofit/>
          </a:bodyPr>
          <a:lstStyle/>
          <a:p>
            <a:r>
              <a:rPr lang="en-CA" dirty="0"/>
              <a:t>EPA gives us the collision normal and penetration depth.</a:t>
            </a:r>
          </a:p>
          <a:p>
            <a:r>
              <a:rPr lang="en-CA" dirty="0"/>
              <a:t>Contact points can be derived from collision normal and penetration depth.</a:t>
            </a:r>
          </a:p>
          <a:p>
            <a:r>
              <a:rPr lang="en-CA" dirty="0"/>
              <a:t>As well we can resolve the collision, in a plethora of ways (heck you could invent a new one).</a:t>
            </a:r>
          </a:p>
        </p:txBody>
      </p:sp>
    </p:spTree>
    <p:extLst>
      <p:ext uri="{BB962C8B-B14F-4D97-AF65-F5344CB8AC3E}">
        <p14:creationId xmlns:p14="http://schemas.microsoft.com/office/powerpoint/2010/main" val="1586149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6">
            <a:extLst>
              <a:ext uri="{FF2B5EF4-FFF2-40B4-BE49-F238E27FC236}">
                <a16:creationId xmlns:a16="http://schemas.microsoft.com/office/drawing/2014/main" id="{FBA6828D-410E-4E1B-8CAD-4972FBB3B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AD21E6-54EA-4121-8FEC-74219ADEF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04333"/>
            <a:ext cx="4958290" cy="524933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000000"/>
                </a:solidFill>
              </a:rPr>
              <a:t>Simple Collision Resolution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428773-F789-43B7-B5FD-AE49E5BD2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2952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9DBC1-C49C-4AC4-9519-574C9FEB3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8600" y="804333"/>
            <a:ext cx="5130800" cy="5249334"/>
          </a:xfrm>
        </p:spPr>
        <p:txBody>
          <a:bodyPr anchor="ctr"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The simple solution is to “push” the 2 objects apart based on the collision normal, and penetration depth.</a:t>
            </a:r>
          </a:p>
          <a:p>
            <a:r>
              <a:rPr lang="en-CA">
                <a:solidFill>
                  <a:srgbClr val="FFFFFF"/>
                </a:solidFill>
              </a:rPr>
              <a:t>This is not the best solution:</a:t>
            </a:r>
          </a:p>
          <a:p>
            <a:pPr lvl="1"/>
            <a:r>
              <a:rPr lang="en-CA">
                <a:solidFill>
                  <a:srgbClr val="FFFFFF"/>
                </a:solidFill>
              </a:rPr>
              <a:t>Back-Simulation Based Physics Engine</a:t>
            </a:r>
          </a:p>
          <a:p>
            <a:pPr lvl="1"/>
            <a:r>
              <a:rPr lang="en-CA">
                <a:solidFill>
                  <a:srgbClr val="FFFFFF"/>
                </a:solidFill>
              </a:rPr>
              <a:t>Constraints Based Physics Engine</a:t>
            </a:r>
          </a:p>
        </p:txBody>
      </p:sp>
    </p:spTree>
    <p:extLst>
      <p:ext uri="{BB962C8B-B14F-4D97-AF65-F5344CB8AC3E}">
        <p14:creationId xmlns:p14="http://schemas.microsoft.com/office/powerpoint/2010/main" val="41537262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D02312-F930-4854-9F93-811184617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FFFFFF"/>
                </a:solidFill>
              </a:rPr>
              <a:t>Back-Simulation Physics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4744B-9CFF-4517-8548-63F217483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048" y="804333"/>
            <a:ext cx="6306003" cy="5249334"/>
          </a:xfrm>
        </p:spPr>
        <p:txBody>
          <a:bodyPr anchor="ctr">
            <a:normAutofit/>
          </a:bodyPr>
          <a:lstStyle/>
          <a:p>
            <a:r>
              <a:rPr lang="en-CA" dirty="0"/>
              <a:t>In this context the data necessary to rewind time must be kept each frame.</a:t>
            </a:r>
          </a:p>
          <a:p>
            <a:r>
              <a:rPr lang="en-CA" dirty="0"/>
              <a:t>Consider; we jump forward in time by discreet steps (frames) and a collision very rarely ‘starts’ on one of our discreet steps.</a:t>
            </a:r>
          </a:p>
          <a:p>
            <a:r>
              <a:rPr lang="en-CA" dirty="0"/>
              <a:t>More often those collisions occurred at some point between 2 frames.</a:t>
            </a:r>
          </a:p>
          <a:p>
            <a:r>
              <a:rPr lang="en-CA" dirty="0"/>
              <a:t>If we keep the necessary data (velocity, last position, etc.) we can rewind colliding objects until the moment of their collision, resolve it then, then re-simulate the colliding objects based on their new velocities.</a:t>
            </a:r>
          </a:p>
          <a:p>
            <a:r>
              <a:rPr lang="en-CA" dirty="0"/>
              <a:t>In this way we avoid having to “push” objects apart, because we always catch them at the moment they make contact. This is an attempt to be ‘jitter’ proof.</a:t>
            </a:r>
          </a:p>
        </p:txBody>
      </p:sp>
    </p:spTree>
    <p:extLst>
      <p:ext uri="{BB962C8B-B14F-4D97-AF65-F5344CB8AC3E}">
        <p14:creationId xmlns:p14="http://schemas.microsoft.com/office/powerpoint/2010/main" val="2264523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6">
            <a:extLst>
              <a:ext uri="{FF2B5EF4-FFF2-40B4-BE49-F238E27FC236}">
                <a16:creationId xmlns:a16="http://schemas.microsoft.com/office/drawing/2014/main" id="{FBA6828D-410E-4E1B-8CAD-4972FBB3B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6A80DE-4F4E-4B21-A4DC-35A022F41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04333"/>
            <a:ext cx="4958290" cy="524933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000000"/>
                </a:solidFill>
              </a:rPr>
              <a:t>Constraint Based Physics Engine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428773-F789-43B7-B5FD-AE49E5BD2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2952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79100-0EF2-4D69-8528-C11C5DE5C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8600" y="804333"/>
            <a:ext cx="5130800" cy="5249334"/>
          </a:xfrm>
        </p:spPr>
        <p:txBody>
          <a:bodyPr anchor="ctr">
            <a:normAutofit/>
          </a:bodyPr>
          <a:lstStyle/>
          <a:p>
            <a:r>
              <a:rPr lang="en-CA" sz="1700">
                <a:solidFill>
                  <a:srgbClr val="FFFFFF"/>
                </a:solidFill>
              </a:rPr>
              <a:t>Constraints are limitations placed on objects degrees of freedom.</a:t>
            </a:r>
          </a:p>
          <a:p>
            <a:r>
              <a:rPr lang="en-CA" sz="1700">
                <a:solidFill>
                  <a:srgbClr val="FFFFFF"/>
                </a:solidFill>
              </a:rPr>
              <a:t>3D objects have 6 degrees of freedom, 3 positional (x,y,z) and 3 rotation (yaw, pitch, roll).</a:t>
            </a:r>
          </a:p>
          <a:p>
            <a:r>
              <a:rPr lang="en-CA" sz="1700">
                <a:solidFill>
                  <a:srgbClr val="FFFFFF"/>
                </a:solidFill>
              </a:rPr>
              <a:t>All physics interactions can be modelled in a constrained format:</a:t>
            </a:r>
          </a:p>
          <a:p>
            <a:pPr lvl="1"/>
            <a:r>
              <a:rPr lang="en-CA" sz="1700">
                <a:solidFill>
                  <a:srgbClr val="FFFFFF"/>
                </a:solidFill>
              </a:rPr>
              <a:t>Joints</a:t>
            </a:r>
          </a:p>
          <a:p>
            <a:pPr lvl="1"/>
            <a:r>
              <a:rPr lang="en-CA" sz="1700">
                <a:solidFill>
                  <a:srgbClr val="FFFFFF"/>
                </a:solidFill>
              </a:rPr>
              <a:t>Collisions (Joints)</a:t>
            </a:r>
          </a:p>
          <a:p>
            <a:r>
              <a:rPr lang="en-CA" sz="1700">
                <a:solidFill>
                  <a:srgbClr val="FFFFFF"/>
                </a:solidFill>
              </a:rPr>
              <a:t>What this allows us to do is resolve each impulse while constraining them, this prevents us from ever having to “push” the objects apart in a sudden manner.</a:t>
            </a:r>
          </a:p>
          <a:p>
            <a:r>
              <a:rPr lang="en-CA" sz="1700">
                <a:solidFill>
                  <a:srgbClr val="FFFFFF"/>
                </a:solidFill>
              </a:rPr>
              <a:t>A constraint based physics engine is an attempt at becoming ‘jitter’ proof.</a:t>
            </a:r>
          </a:p>
        </p:txBody>
      </p:sp>
    </p:spTree>
    <p:extLst>
      <p:ext uri="{BB962C8B-B14F-4D97-AF65-F5344CB8AC3E}">
        <p14:creationId xmlns:p14="http://schemas.microsoft.com/office/powerpoint/2010/main" val="1592262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3FA8C1-6A6A-432A-9531-938BD9ABE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FFFFFF"/>
                </a:solidFill>
              </a:rPr>
              <a:t>Linear Kinematics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11404D-851A-4BAA-9DED-022C226582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51048" y="804333"/>
                <a:ext cx="6306003" cy="5249334"/>
              </a:xfrm>
            </p:spPr>
            <p:txBody>
              <a:bodyPr anchor="ctr">
                <a:normAutofit fontScale="92500"/>
              </a:bodyPr>
              <a:lstStyle/>
              <a:p>
                <a:r>
                  <a:rPr lang="en-CA" dirty="0"/>
                  <a:t>Elastic Collision</a:t>
                </a:r>
              </a:p>
              <a:p>
                <a:r>
                  <a:rPr lang="en-CA" dirty="0"/>
                  <a:t>Where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CA" dirty="0"/>
                  <a:t> is velocity before collision, and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CA" dirty="0"/>
                  <a:t> is velocity after collision.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endParaRPr lang="en-CA" dirty="0"/>
              </a:p>
              <a:p>
                <a:pPr>
                  <a:tabLst>
                    <a:tab pos="9596438" algn="r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CA" dirty="0"/>
                  <a:t> </a:t>
                </a:r>
              </a:p>
              <a:p>
                <a:pPr>
                  <a:tabLst>
                    <a:tab pos="9596438" algn="r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CA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CA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CA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CA" dirty="0"/>
              </a:p>
              <a:p>
                <a:pPr>
                  <a:tabLst>
                    <a:tab pos="9596438" algn="r"/>
                  </a:tabLst>
                </a:pPr>
                <a:r>
                  <a:rPr lang="en-CA" dirty="0"/>
                  <a:t>Inelastic Collision</a:t>
                </a:r>
              </a:p>
              <a:p>
                <a:pPr>
                  <a:tabLst>
                    <a:tab pos="9596438" algn="r"/>
                  </a:tabLst>
                </a:pPr>
                <a:r>
                  <a:rPr lang="en-CA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CA" dirty="0"/>
                  <a:t> is the coefficient of restitution (1 = elastic, 0 = perfectly inelastic).</a:t>
                </a:r>
              </a:p>
              <a:p>
                <a:pPr>
                  <a:tabLst>
                    <a:tab pos="9596438" algn="r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CA" b="0" i="1" dirty="0">
                  <a:latin typeface="Cambria Math" panose="02040503050406030204" pitchFamily="18" charset="0"/>
                </a:endParaRPr>
              </a:p>
              <a:p>
                <a:pPr>
                  <a:tabLst>
                    <a:tab pos="9596438" algn="r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sSub>
                          <m:sSubPr>
                            <m:ctrlPr>
                              <a:rPr lang="en-CA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CA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11404D-851A-4BAA-9DED-022C226582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51048" y="804333"/>
                <a:ext cx="6306003" cy="5249334"/>
              </a:xfrm>
              <a:blipFill>
                <a:blip r:embed="rId2"/>
                <a:stretch>
                  <a:fillRect l="-290" t="-46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4298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6">
            <a:extLst>
              <a:ext uri="{FF2B5EF4-FFF2-40B4-BE49-F238E27FC236}">
                <a16:creationId xmlns:a16="http://schemas.microsoft.com/office/drawing/2014/main" id="{FBA6828D-410E-4E1B-8CAD-4972FBB3B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7A9057-52BE-4BD8-8D8A-69E19D740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04333"/>
            <a:ext cx="4958290" cy="524933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000000"/>
                </a:solidFill>
              </a:rPr>
              <a:t>Angular Kinematics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428773-F789-43B7-B5FD-AE49E5BD2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2952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ADE935-74B1-4EB7-A350-6FCF4DE997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8600" y="804333"/>
                <a:ext cx="5130800" cy="5249334"/>
              </a:xfrm>
            </p:spPr>
            <p:txBody>
              <a:bodyPr anchor="ctr">
                <a:normAutofit/>
              </a:bodyPr>
              <a:lstStyle/>
              <a:p>
                <a:r>
                  <a:rPr lang="en-CA">
                    <a:solidFill>
                      <a:srgbClr val="FFFFFF"/>
                    </a:solidFill>
                  </a:rPr>
                  <a:t>Given contact point </a:t>
                </a:r>
                <a14:m>
                  <m:oMath xmlns:m="http://schemas.openxmlformats.org/officeDocument/2006/math">
                    <m:r>
                      <a:rPr lang="en-CA" b="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CA">
                    <a:solidFill>
                      <a:srgbClr val="FFFFFF"/>
                    </a:solidFill>
                  </a:rPr>
                  <a:t>, object origin </a:t>
                </a:r>
                <a14:m>
                  <m:oMath xmlns:m="http://schemas.openxmlformats.org/officeDocument/2006/math">
                    <m:r>
                      <a:rPr lang="en-CA" b="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CA">
                    <a:solidFill>
                      <a:srgbClr val="FFFFFF"/>
                    </a:solidFill>
                  </a:rPr>
                  <a:t>, and applied force </a:t>
                </a:r>
                <a14:m>
                  <m:oMath xmlns:m="http://schemas.openxmlformats.org/officeDocument/2006/math">
                    <m:r>
                      <a:rPr lang="en-CA" b="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CA">
                    <a:solidFill>
                      <a:srgbClr val="FFFFFF"/>
                    </a:solidFill>
                  </a:rPr>
                  <a:t>.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CA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CA" b="0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CA" b="0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CA" b="0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CA" b="0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CA" b="0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CA" b="0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endParaRPr lang="en-CA">
                  <a:solidFill>
                    <a:srgbClr val="FFFFFF"/>
                  </a:solidFill>
                </a:endParaRPr>
              </a:p>
              <a:p>
                <a:r>
                  <a:rPr lang="en-CA">
                    <a:solidFill>
                      <a:srgbClr val="FFFFFF"/>
                    </a:solidFill>
                  </a:rPr>
                  <a:t>Force can be derived from both objects velocities.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ADE935-74B1-4EB7-A350-6FCF4DE997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8600" y="804333"/>
                <a:ext cx="5130800" cy="5249334"/>
              </a:xfrm>
              <a:blipFill>
                <a:blip r:embed="rId2"/>
                <a:stretch>
                  <a:fillRect l="-237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7286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8DEA0D-589B-48DF-8007-3DDF113DD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FFFFFF"/>
                </a:solidFill>
              </a:rPr>
              <a:t>Bonus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8AE62-5901-4478-A1ED-F611B4042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048" y="804333"/>
            <a:ext cx="6306003" cy="5249334"/>
          </a:xfrm>
        </p:spPr>
        <p:txBody>
          <a:bodyPr anchor="ctr">
            <a:normAutofit/>
          </a:bodyPr>
          <a:lstStyle/>
          <a:p>
            <a:r>
              <a:rPr lang="en-CA" dirty="0">
                <a:hlinkClick r:id="rId2"/>
              </a:rPr>
              <a:t>https://www.scss.tcd.ie/~manzkem/CS7057/cs7057-1516-09-CollisionResponse-mm.pdf</a:t>
            </a:r>
            <a:endParaRPr lang="en-CA" dirty="0"/>
          </a:p>
          <a:p>
            <a:r>
              <a:rPr lang="en-CA" dirty="0">
                <a:hlinkClick r:id="rId3"/>
              </a:rPr>
              <a:t>http://allenchou.net/game-physics-series/</a:t>
            </a:r>
            <a:endParaRPr lang="en-CA" dirty="0"/>
          </a:p>
          <a:p>
            <a:r>
              <a:rPr lang="en-CA" dirty="0">
                <a:hlinkClick r:id="rId4"/>
              </a:rPr>
              <a:t>http://www.cs.qub.ac.uk/~P.Hanna/CSC3049/resources/3.5.%20Contact%20Resolution%20-%20Frictionless%20Contacts.pptx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5479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16">
            <a:extLst>
              <a:ext uri="{FF2B5EF4-FFF2-40B4-BE49-F238E27FC236}">
                <a16:creationId xmlns:a16="http://schemas.microsoft.com/office/drawing/2014/main" id="{1579DD07-B6CD-4C04-8A4A-3B92CE8C8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0" ty="0" sx="65000" sy="65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A995F0-906C-4573-A739-16EED217D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9343" y="620720"/>
            <a:ext cx="6442480" cy="559316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C7FCA-E791-48E1-AA46-2965BE834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0120" y="1105351"/>
            <a:ext cx="5477071" cy="3023981"/>
          </a:xfrm>
        </p:spPr>
        <p:txBody>
          <a:bodyPr anchor="b">
            <a:normAutofit/>
          </a:bodyPr>
          <a:lstStyle/>
          <a:p>
            <a:pPr algn="l"/>
            <a:r>
              <a:rPr lang="en-CA" sz="4400">
                <a:solidFill>
                  <a:schemeClr val="bg1"/>
                </a:solidFill>
              </a:rPr>
              <a:t>FIN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E0FAA74-7DB8-467F-8C52-DE8098F90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0120" y="4297556"/>
            <a:ext cx="5477071" cy="1431695"/>
          </a:xfrm>
        </p:spPr>
        <p:txBody>
          <a:bodyPr anchor="t">
            <a:normAutofit/>
          </a:bodyPr>
          <a:lstStyle/>
          <a:p>
            <a:r>
              <a:rPr lang="en-CA" sz="1600" dirty="0">
                <a:solidFill>
                  <a:schemeClr val="bg1"/>
                </a:solidFill>
              </a:rPr>
              <a:t>Truly no more actual stuff to learn, only cool extras.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F5F06D-7250-43A5-9B61-0B7F1FD7E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09960" y="4214336"/>
            <a:ext cx="512064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7753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517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Cambria Math</vt:lpstr>
      <vt:lpstr>Tw Cen MT</vt:lpstr>
      <vt:lpstr>Tw Cen MT Condensed</vt:lpstr>
      <vt:lpstr>Wingdings 3</vt:lpstr>
      <vt:lpstr>Integral</vt:lpstr>
      <vt:lpstr>EPA &amp; Kinematics</vt:lpstr>
      <vt:lpstr>Overview</vt:lpstr>
      <vt:lpstr>EPA DAta</vt:lpstr>
      <vt:lpstr>Simple Collision Resolution</vt:lpstr>
      <vt:lpstr>Back-Simulation Physics Engine</vt:lpstr>
      <vt:lpstr>Constraint Based Physics Engine</vt:lpstr>
      <vt:lpstr>Linear Kinematics</vt:lpstr>
      <vt:lpstr>Angular Kinematics</vt:lpstr>
      <vt:lpstr>Bonus Reading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EPA &amp; Kinematics</dc:title>
  <dc:creator>Aidan Dearing</dc:creator>
  <cp:lastModifiedBy>Aidan Dearing</cp:lastModifiedBy>
  <cp:revision>2</cp:revision>
  <dcterms:created xsi:type="dcterms:W3CDTF">2019-04-12T15:55:32Z</dcterms:created>
  <dcterms:modified xsi:type="dcterms:W3CDTF">2019-04-12T16:03:40Z</dcterms:modified>
</cp:coreProperties>
</file>